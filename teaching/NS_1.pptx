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27"/>
  </p:notesMasterIdLst>
  <p:sldIdLst>
    <p:sldId id="256" r:id="rId2"/>
    <p:sldId id="268" r:id="rId3"/>
    <p:sldId id="257" r:id="rId4"/>
    <p:sldId id="258" r:id="rId5"/>
    <p:sldId id="292" r:id="rId6"/>
    <p:sldId id="259" r:id="rId7"/>
    <p:sldId id="293" r:id="rId8"/>
    <p:sldId id="27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74" r:id="rId18"/>
    <p:sldId id="273" r:id="rId19"/>
    <p:sldId id="289" r:id="rId20"/>
    <p:sldId id="294" r:id="rId21"/>
    <p:sldId id="295" r:id="rId22"/>
    <p:sldId id="296" r:id="rId23"/>
    <p:sldId id="271" r:id="rId24"/>
    <p:sldId id="291" r:id="rId25"/>
    <p:sldId id="29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BF847-D923-4D08-BE6C-FC022C8DF68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2FBB2F-66D6-44C5-98BA-194BB0C92F84}">
      <dgm:prSet/>
      <dgm:spPr/>
      <dgm:t>
        <a:bodyPr/>
        <a:lstStyle/>
        <a:p>
          <a:r>
            <a:rPr lang="en-US"/>
            <a:t>Plagiarism</a:t>
          </a:r>
        </a:p>
      </dgm:t>
    </dgm:pt>
    <dgm:pt modelId="{65508080-8ADA-4386-AE22-764263641151}" type="parTrans" cxnId="{51BF6D35-A2DE-4A54-9D54-397A5B9147EB}">
      <dgm:prSet/>
      <dgm:spPr/>
      <dgm:t>
        <a:bodyPr/>
        <a:lstStyle/>
        <a:p>
          <a:endParaRPr lang="en-US"/>
        </a:p>
      </dgm:t>
    </dgm:pt>
    <dgm:pt modelId="{8FE9B8A0-49F3-49A3-83EF-022175EF9024}" type="sibTrans" cxnId="{51BF6D35-A2DE-4A54-9D54-397A5B9147EB}">
      <dgm:prSet/>
      <dgm:spPr/>
      <dgm:t>
        <a:bodyPr/>
        <a:lstStyle/>
        <a:p>
          <a:endParaRPr lang="en-US"/>
        </a:p>
      </dgm:t>
    </dgm:pt>
    <dgm:pt modelId="{5B2D5499-DDF4-4FD1-B6DF-707A885D5B48}">
      <dgm:prSet/>
      <dgm:spPr/>
      <dgm:t>
        <a:bodyPr/>
        <a:lstStyle/>
        <a:p>
          <a:r>
            <a:rPr lang="en-US"/>
            <a:t>Assigning credit </a:t>
          </a:r>
        </a:p>
      </dgm:t>
    </dgm:pt>
    <dgm:pt modelId="{B844E6E5-3762-49F3-84A8-8D0460AC56A5}" type="parTrans" cxnId="{0D509C65-5793-411E-9321-B8A5F46604C9}">
      <dgm:prSet/>
      <dgm:spPr/>
      <dgm:t>
        <a:bodyPr/>
        <a:lstStyle/>
        <a:p>
          <a:endParaRPr lang="en-US"/>
        </a:p>
      </dgm:t>
    </dgm:pt>
    <dgm:pt modelId="{842B3D65-9327-47C7-8820-95B8DFB21FEC}" type="sibTrans" cxnId="{0D509C65-5793-411E-9321-B8A5F46604C9}">
      <dgm:prSet/>
      <dgm:spPr/>
      <dgm:t>
        <a:bodyPr/>
        <a:lstStyle/>
        <a:p>
          <a:endParaRPr lang="en-US"/>
        </a:p>
      </dgm:t>
    </dgm:pt>
    <dgm:pt modelId="{8E9EE2DF-2F6E-4589-B002-C5A5935F90FB}">
      <dgm:prSet/>
      <dgm:spPr/>
      <dgm:t>
        <a:bodyPr/>
        <a:lstStyle/>
        <a:p>
          <a:r>
            <a:rPr lang="en-US"/>
            <a:t>Using chatbots  </a:t>
          </a:r>
        </a:p>
      </dgm:t>
    </dgm:pt>
    <dgm:pt modelId="{15467748-2315-42AF-B0EE-B5C7F6304784}" type="parTrans" cxnId="{5FAA474E-66C6-4729-B33B-86FFF6BDD196}">
      <dgm:prSet/>
      <dgm:spPr/>
      <dgm:t>
        <a:bodyPr/>
        <a:lstStyle/>
        <a:p>
          <a:endParaRPr lang="en-US"/>
        </a:p>
      </dgm:t>
    </dgm:pt>
    <dgm:pt modelId="{A5EE0C09-0C03-48AE-B494-C32630316947}" type="sibTrans" cxnId="{5FAA474E-66C6-4729-B33B-86FFF6BDD196}">
      <dgm:prSet/>
      <dgm:spPr/>
      <dgm:t>
        <a:bodyPr/>
        <a:lstStyle/>
        <a:p>
          <a:endParaRPr lang="en-US"/>
        </a:p>
      </dgm:t>
    </dgm:pt>
    <dgm:pt modelId="{A9086F1C-ECBB-4F43-A758-A32DFA916B29}" type="pres">
      <dgm:prSet presAssocID="{00EBF847-D923-4D08-BE6C-FC022C8DF685}" presName="root" presStyleCnt="0">
        <dgm:presLayoutVars>
          <dgm:dir/>
          <dgm:resizeHandles val="exact"/>
        </dgm:presLayoutVars>
      </dgm:prSet>
      <dgm:spPr/>
    </dgm:pt>
    <dgm:pt modelId="{AF1937EC-E30D-4E0C-9898-314FC481A5DE}" type="pres">
      <dgm:prSet presAssocID="{CB2FBB2F-66D6-44C5-98BA-194BB0C92F84}" presName="compNode" presStyleCnt="0"/>
      <dgm:spPr/>
    </dgm:pt>
    <dgm:pt modelId="{C024EB1B-B6E9-47AD-97FF-26AA4699C6CF}" type="pres">
      <dgm:prSet presAssocID="{CB2FBB2F-66D6-44C5-98BA-194BB0C92F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11F583DE-B4E1-4572-817C-C0BE3CA1369C}" type="pres">
      <dgm:prSet presAssocID="{CB2FBB2F-66D6-44C5-98BA-194BB0C92F84}" presName="spaceRect" presStyleCnt="0"/>
      <dgm:spPr/>
    </dgm:pt>
    <dgm:pt modelId="{27243326-8B7D-4076-B907-7198000D843E}" type="pres">
      <dgm:prSet presAssocID="{CB2FBB2F-66D6-44C5-98BA-194BB0C92F84}" presName="textRect" presStyleLbl="revTx" presStyleIdx="0" presStyleCnt="3">
        <dgm:presLayoutVars>
          <dgm:chMax val="1"/>
          <dgm:chPref val="1"/>
        </dgm:presLayoutVars>
      </dgm:prSet>
      <dgm:spPr/>
    </dgm:pt>
    <dgm:pt modelId="{AAFCE2F5-4518-4E99-B77D-26EAD1AEACE4}" type="pres">
      <dgm:prSet presAssocID="{8FE9B8A0-49F3-49A3-83EF-022175EF9024}" presName="sibTrans" presStyleCnt="0"/>
      <dgm:spPr/>
    </dgm:pt>
    <dgm:pt modelId="{E398728C-8C08-4FBA-A7E1-2A115432DDB4}" type="pres">
      <dgm:prSet presAssocID="{5B2D5499-DDF4-4FD1-B6DF-707A885D5B48}" presName="compNode" presStyleCnt="0"/>
      <dgm:spPr/>
    </dgm:pt>
    <dgm:pt modelId="{490D7392-B079-46E4-86B1-22496C263DDD}" type="pres">
      <dgm:prSet presAssocID="{5B2D5499-DDF4-4FD1-B6DF-707A885D5B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34BA7EA-1B55-46D1-B0A5-9C18596C4BCC}" type="pres">
      <dgm:prSet presAssocID="{5B2D5499-DDF4-4FD1-B6DF-707A885D5B48}" presName="spaceRect" presStyleCnt="0"/>
      <dgm:spPr/>
    </dgm:pt>
    <dgm:pt modelId="{CE9B5D45-380F-481D-82EA-0CCA87908D59}" type="pres">
      <dgm:prSet presAssocID="{5B2D5499-DDF4-4FD1-B6DF-707A885D5B48}" presName="textRect" presStyleLbl="revTx" presStyleIdx="1" presStyleCnt="3">
        <dgm:presLayoutVars>
          <dgm:chMax val="1"/>
          <dgm:chPref val="1"/>
        </dgm:presLayoutVars>
      </dgm:prSet>
      <dgm:spPr/>
    </dgm:pt>
    <dgm:pt modelId="{1E9F9EF3-42BB-4F55-8621-65B747364C9C}" type="pres">
      <dgm:prSet presAssocID="{842B3D65-9327-47C7-8820-95B8DFB21FEC}" presName="sibTrans" presStyleCnt="0"/>
      <dgm:spPr/>
    </dgm:pt>
    <dgm:pt modelId="{0F974FC5-1190-443D-895A-71129EB6F7FE}" type="pres">
      <dgm:prSet presAssocID="{8E9EE2DF-2F6E-4589-B002-C5A5935F90FB}" presName="compNode" presStyleCnt="0"/>
      <dgm:spPr/>
    </dgm:pt>
    <dgm:pt modelId="{37164846-FC05-451F-8B8D-C016313B0108}" type="pres">
      <dgm:prSet presAssocID="{8E9EE2DF-2F6E-4589-B002-C5A5935F90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719525F-9515-4543-9703-F3909F39E092}" type="pres">
      <dgm:prSet presAssocID="{8E9EE2DF-2F6E-4589-B002-C5A5935F90FB}" presName="spaceRect" presStyleCnt="0"/>
      <dgm:spPr/>
    </dgm:pt>
    <dgm:pt modelId="{81DAF2A3-3876-4E6A-9E99-48D6CE1EA9F7}" type="pres">
      <dgm:prSet presAssocID="{8E9EE2DF-2F6E-4589-B002-C5A5935F90F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9A0126-B273-4DEB-97FE-E603BA922F9F}" type="presOf" srcId="{00EBF847-D923-4D08-BE6C-FC022C8DF685}" destId="{A9086F1C-ECBB-4F43-A758-A32DFA916B29}" srcOrd="0" destOrd="0" presId="urn:microsoft.com/office/officeart/2018/2/layout/IconLabelList"/>
    <dgm:cxn modelId="{51BF6D35-A2DE-4A54-9D54-397A5B9147EB}" srcId="{00EBF847-D923-4D08-BE6C-FC022C8DF685}" destId="{CB2FBB2F-66D6-44C5-98BA-194BB0C92F84}" srcOrd="0" destOrd="0" parTransId="{65508080-8ADA-4386-AE22-764263641151}" sibTransId="{8FE9B8A0-49F3-49A3-83EF-022175EF9024}"/>
    <dgm:cxn modelId="{5FAA474E-66C6-4729-B33B-86FFF6BDD196}" srcId="{00EBF847-D923-4D08-BE6C-FC022C8DF685}" destId="{8E9EE2DF-2F6E-4589-B002-C5A5935F90FB}" srcOrd="2" destOrd="0" parTransId="{15467748-2315-42AF-B0EE-B5C7F6304784}" sibTransId="{A5EE0C09-0C03-48AE-B494-C32630316947}"/>
    <dgm:cxn modelId="{0D509C65-5793-411E-9321-B8A5F46604C9}" srcId="{00EBF847-D923-4D08-BE6C-FC022C8DF685}" destId="{5B2D5499-DDF4-4FD1-B6DF-707A885D5B48}" srcOrd="1" destOrd="0" parTransId="{B844E6E5-3762-49F3-84A8-8D0460AC56A5}" sibTransId="{842B3D65-9327-47C7-8820-95B8DFB21FEC}"/>
    <dgm:cxn modelId="{2E583877-9963-4BFB-A178-79CE9FDCE8AA}" type="presOf" srcId="{8E9EE2DF-2F6E-4589-B002-C5A5935F90FB}" destId="{81DAF2A3-3876-4E6A-9E99-48D6CE1EA9F7}" srcOrd="0" destOrd="0" presId="urn:microsoft.com/office/officeart/2018/2/layout/IconLabelList"/>
    <dgm:cxn modelId="{05F40DC4-0C9D-441E-9956-459C517ECAA7}" type="presOf" srcId="{CB2FBB2F-66D6-44C5-98BA-194BB0C92F84}" destId="{27243326-8B7D-4076-B907-7198000D843E}" srcOrd="0" destOrd="0" presId="urn:microsoft.com/office/officeart/2018/2/layout/IconLabelList"/>
    <dgm:cxn modelId="{8E3A11C6-6BCB-4892-A28B-9ED1D28327B9}" type="presOf" srcId="{5B2D5499-DDF4-4FD1-B6DF-707A885D5B48}" destId="{CE9B5D45-380F-481D-82EA-0CCA87908D59}" srcOrd="0" destOrd="0" presId="urn:microsoft.com/office/officeart/2018/2/layout/IconLabelList"/>
    <dgm:cxn modelId="{C648B8F3-5DD4-479C-83B4-844C2A67A4FF}" type="presParOf" srcId="{A9086F1C-ECBB-4F43-A758-A32DFA916B29}" destId="{AF1937EC-E30D-4E0C-9898-314FC481A5DE}" srcOrd="0" destOrd="0" presId="urn:microsoft.com/office/officeart/2018/2/layout/IconLabelList"/>
    <dgm:cxn modelId="{C500F532-DD22-4DB2-B494-6152A49792E9}" type="presParOf" srcId="{AF1937EC-E30D-4E0C-9898-314FC481A5DE}" destId="{C024EB1B-B6E9-47AD-97FF-26AA4699C6CF}" srcOrd="0" destOrd="0" presId="urn:microsoft.com/office/officeart/2018/2/layout/IconLabelList"/>
    <dgm:cxn modelId="{B7C9D191-A74E-4AD5-B011-8F3040C33032}" type="presParOf" srcId="{AF1937EC-E30D-4E0C-9898-314FC481A5DE}" destId="{11F583DE-B4E1-4572-817C-C0BE3CA1369C}" srcOrd="1" destOrd="0" presId="urn:microsoft.com/office/officeart/2018/2/layout/IconLabelList"/>
    <dgm:cxn modelId="{4E5224D2-0218-4BDC-9A96-FAF128B21AD2}" type="presParOf" srcId="{AF1937EC-E30D-4E0C-9898-314FC481A5DE}" destId="{27243326-8B7D-4076-B907-7198000D843E}" srcOrd="2" destOrd="0" presId="urn:microsoft.com/office/officeart/2018/2/layout/IconLabelList"/>
    <dgm:cxn modelId="{7922151D-AB27-4909-AC81-8B1A8B841FCA}" type="presParOf" srcId="{A9086F1C-ECBB-4F43-A758-A32DFA916B29}" destId="{AAFCE2F5-4518-4E99-B77D-26EAD1AEACE4}" srcOrd="1" destOrd="0" presId="urn:microsoft.com/office/officeart/2018/2/layout/IconLabelList"/>
    <dgm:cxn modelId="{0B1F1151-724B-4B4C-9805-6F336E903686}" type="presParOf" srcId="{A9086F1C-ECBB-4F43-A758-A32DFA916B29}" destId="{E398728C-8C08-4FBA-A7E1-2A115432DDB4}" srcOrd="2" destOrd="0" presId="urn:microsoft.com/office/officeart/2018/2/layout/IconLabelList"/>
    <dgm:cxn modelId="{40F780A9-0084-4B87-9EFB-2B100171FB6C}" type="presParOf" srcId="{E398728C-8C08-4FBA-A7E1-2A115432DDB4}" destId="{490D7392-B079-46E4-86B1-22496C263DDD}" srcOrd="0" destOrd="0" presId="urn:microsoft.com/office/officeart/2018/2/layout/IconLabelList"/>
    <dgm:cxn modelId="{C3C80065-859C-4E8C-B14B-7B84F0EC0110}" type="presParOf" srcId="{E398728C-8C08-4FBA-A7E1-2A115432DDB4}" destId="{034BA7EA-1B55-46D1-B0A5-9C18596C4BCC}" srcOrd="1" destOrd="0" presId="urn:microsoft.com/office/officeart/2018/2/layout/IconLabelList"/>
    <dgm:cxn modelId="{8F12E75D-1AA8-40E3-9334-EEFFE692B71A}" type="presParOf" srcId="{E398728C-8C08-4FBA-A7E1-2A115432DDB4}" destId="{CE9B5D45-380F-481D-82EA-0CCA87908D59}" srcOrd="2" destOrd="0" presId="urn:microsoft.com/office/officeart/2018/2/layout/IconLabelList"/>
    <dgm:cxn modelId="{D12CD472-76BA-4562-A100-6B87FD28441C}" type="presParOf" srcId="{A9086F1C-ECBB-4F43-A758-A32DFA916B29}" destId="{1E9F9EF3-42BB-4F55-8621-65B747364C9C}" srcOrd="3" destOrd="0" presId="urn:microsoft.com/office/officeart/2018/2/layout/IconLabelList"/>
    <dgm:cxn modelId="{2DF1378B-7CCF-4F7A-B7E8-0CA7431B92FD}" type="presParOf" srcId="{A9086F1C-ECBB-4F43-A758-A32DFA916B29}" destId="{0F974FC5-1190-443D-895A-71129EB6F7FE}" srcOrd="4" destOrd="0" presId="urn:microsoft.com/office/officeart/2018/2/layout/IconLabelList"/>
    <dgm:cxn modelId="{C49AED27-9450-405C-8044-22B8C5012427}" type="presParOf" srcId="{0F974FC5-1190-443D-895A-71129EB6F7FE}" destId="{37164846-FC05-451F-8B8D-C016313B0108}" srcOrd="0" destOrd="0" presId="urn:microsoft.com/office/officeart/2018/2/layout/IconLabelList"/>
    <dgm:cxn modelId="{7FDBAB63-DFF2-480A-9190-50755B6C5851}" type="presParOf" srcId="{0F974FC5-1190-443D-895A-71129EB6F7FE}" destId="{8719525F-9515-4543-9703-F3909F39E092}" srcOrd="1" destOrd="0" presId="urn:microsoft.com/office/officeart/2018/2/layout/IconLabelList"/>
    <dgm:cxn modelId="{52371A57-1A5A-4C05-9500-94C460DDF22A}" type="presParOf" srcId="{0F974FC5-1190-443D-895A-71129EB6F7FE}" destId="{81DAF2A3-3876-4E6A-9E99-48D6CE1EA9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C7C84B-2E71-412A-A89B-4D4D2BF0AD6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81C5C77-0F4A-4A03-9A1F-95C071647205}">
      <dgm:prSet/>
      <dgm:spPr/>
      <dgm:t>
        <a:bodyPr/>
        <a:lstStyle/>
        <a:p>
          <a:r>
            <a:rPr lang="en-US" b="0" i="0"/>
            <a:t>Clarity is a primary goal. It is helped by consistent use of precise words.</a:t>
          </a:r>
          <a:endParaRPr lang="en-US"/>
        </a:p>
      </dgm:t>
    </dgm:pt>
    <dgm:pt modelId="{4838066C-412A-4AC6-827B-2D118F6397F5}" type="parTrans" cxnId="{3473060D-7436-4EC4-9FBF-11611214582C}">
      <dgm:prSet/>
      <dgm:spPr/>
      <dgm:t>
        <a:bodyPr/>
        <a:lstStyle/>
        <a:p>
          <a:endParaRPr lang="en-US"/>
        </a:p>
      </dgm:t>
    </dgm:pt>
    <dgm:pt modelId="{9C2C571B-F77D-4E26-97FE-FFB193B89F68}" type="sibTrans" cxnId="{3473060D-7436-4EC4-9FBF-11611214582C}">
      <dgm:prSet/>
      <dgm:spPr/>
      <dgm:t>
        <a:bodyPr/>
        <a:lstStyle/>
        <a:p>
          <a:endParaRPr lang="en-US"/>
        </a:p>
      </dgm:t>
    </dgm:pt>
    <dgm:pt modelId="{35FC7857-87DE-43E8-AF6C-30FB3843DD1C}">
      <dgm:prSet/>
      <dgm:spPr/>
      <dgm:t>
        <a:bodyPr/>
        <a:lstStyle/>
        <a:p>
          <a:r>
            <a:rPr lang="en-US" b="0" i="0"/>
            <a:t>Brevity is a virtue. Aim for short, streamlined sentences that are seamlessly connected in building up your logical arguments.</a:t>
          </a:r>
          <a:endParaRPr lang="en-US"/>
        </a:p>
      </dgm:t>
    </dgm:pt>
    <dgm:pt modelId="{94EEB272-37E3-44C1-8345-68D6F0EA1FAE}" type="parTrans" cxnId="{8DE32345-8B19-42FD-A51C-8DDD021785D7}">
      <dgm:prSet/>
      <dgm:spPr/>
      <dgm:t>
        <a:bodyPr/>
        <a:lstStyle/>
        <a:p>
          <a:endParaRPr lang="en-US"/>
        </a:p>
      </dgm:t>
    </dgm:pt>
    <dgm:pt modelId="{7489EA19-2A6B-4C79-9807-F163B0A52FDF}" type="sibTrans" cxnId="{8DE32345-8B19-42FD-A51C-8DDD021785D7}">
      <dgm:prSet/>
      <dgm:spPr/>
      <dgm:t>
        <a:bodyPr/>
        <a:lstStyle/>
        <a:p>
          <a:endParaRPr lang="en-US"/>
        </a:p>
      </dgm:t>
    </dgm:pt>
    <dgm:pt modelId="{939818DC-742D-47F6-8CDE-313C9204F4F6}">
      <dgm:prSet/>
      <dgm:spPr/>
      <dgm:t>
        <a:bodyPr/>
        <a:lstStyle/>
        <a:p>
          <a:r>
            <a:rPr lang="en-US" b="0" i="0"/>
            <a:t>Always begin with the reason. Tell the readers why you’re writing the things that you’re writing. Do not describe what you did before you explain why you did it.</a:t>
          </a:r>
          <a:endParaRPr lang="en-US"/>
        </a:p>
      </dgm:t>
    </dgm:pt>
    <dgm:pt modelId="{57CFEFCE-9451-4490-AB3A-DABE30607E1C}" type="parTrans" cxnId="{7219C99C-6D61-4804-ADD1-C98A16D7986B}">
      <dgm:prSet/>
      <dgm:spPr/>
      <dgm:t>
        <a:bodyPr/>
        <a:lstStyle/>
        <a:p>
          <a:endParaRPr lang="en-US"/>
        </a:p>
      </dgm:t>
    </dgm:pt>
    <dgm:pt modelId="{B4FF5009-6BE2-4C0F-8B67-AE429EBCB308}" type="sibTrans" cxnId="{7219C99C-6D61-4804-ADD1-C98A16D7986B}">
      <dgm:prSet/>
      <dgm:spPr/>
      <dgm:t>
        <a:bodyPr/>
        <a:lstStyle/>
        <a:p>
          <a:endParaRPr lang="en-US"/>
        </a:p>
      </dgm:t>
    </dgm:pt>
    <dgm:pt modelId="{530547B7-0C13-41F4-ADC8-3CE64AF6415E}">
      <dgm:prSet/>
      <dgm:spPr/>
      <dgm:t>
        <a:bodyPr/>
        <a:lstStyle/>
        <a:p>
          <a:r>
            <a:rPr lang="en-US" b="0" i="0"/>
            <a:t>Minimize the use of adjectives and make sure the remaining ones do not do much work.</a:t>
          </a:r>
          <a:endParaRPr lang="en-US"/>
        </a:p>
      </dgm:t>
    </dgm:pt>
    <dgm:pt modelId="{0E038192-5FEC-4F72-B86A-0B73C122A7C5}" type="parTrans" cxnId="{C299719A-6C5F-4234-B0C4-31A2CDCC9CB9}">
      <dgm:prSet/>
      <dgm:spPr/>
      <dgm:t>
        <a:bodyPr/>
        <a:lstStyle/>
        <a:p>
          <a:endParaRPr lang="en-US"/>
        </a:p>
      </dgm:t>
    </dgm:pt>
    <dgm:pt modelId="{41942A8A-01B2-43D7-8245-C691D8B52C22}" type="sibTrans" cxnId="{C299719A-6C5F-4234-B0C4-31A2CDCC9CB9}">
      <dgm:prSet/>
      <dgm:spPr/>
      <dgm:t>
        <a:bodyPr/>
        <a:lstStyle/>
        <a:p>
          <a:endParaRPr lang="en-US"/>
        </a:p>
      </dgm:t>
    </dgm:pt>
    <dgm:pt modelId="{51A215F9-18B7-4BAF-9221-F449E32686C2}">
      <dgm:prSet/>
      <dgm:spPr/>
      <dgm:t>
        <a:bodyPr/>
        <a:lstStyle/>
        <a:p>
          <a:r>
            <a:rPr lang="en-US" b="0" i="0"/>
            <a:t>Read your draft and pause after each statement to think of counterexamples, counterarguments or possible misinterpretations. If you can think of one, revise it.</a:t>
          </a:r>
          <a:endParaRPr lang="en-US"/>
        </a:p>
      </dgm:t>
    </dgm:pt>
    <dgm:pt modelId="{29440E32-E83A-42C2-82D2-61CA31774E4B}" type="parTrans" cxnId="{C506E17F-16E6-45A4-A771-C134B870C7AC}">
      <dgm:prSet/>
      <dgm:spPr/>
      <dgm:t>
        <a:bodyPr/>
        <a:lstStyle/>
        <a:p>
          <a:endParaRPr lang="en-US"/>
        </a:p>
      </dgm:t>
    </dgm:pt>
    <dgm:pt modelId="{278107CD-51C1-4584-8456-67B92B0FDB42}" type="sibTrans" cxnId="{C506E17F-16E6-45A4-A771-C134B870C7AC}">
      <dgm:prSet/>
      <dgm:spPr/>
      <dgm:t>
        <a:bodyPr/>
        <a:lstStyle/>
        <a:p>
          <a:endParaRPr lang="en-US"/>
        </a:p>
      </dgm:t>
    </dgm:pt>
    <dgm:pt modelId="{92C2BC1A-5223-4292-8311-335CB09BD192}">
      <dgm:prSet/>
      <dgm:spPr/>
      <dgm:t>
        <a:bodyPr/>
        <a:lstStyle/>
        <a:p>
          <a:r>
            <a:rPr lang="en-US" b="0" i="0" dirty="0"/>
            <a:t>Be willing to critically evaluate your own writing and take constructive feedback as much as possible.</a:t>
          </a:r>
          <a:endParaRPr lang="en-US" dirty="0"/>
        </a:p>
      </dgm:t>
    </dgm:pt>
    <dgm:pt modelId="{949941A5-9CF1-4EFE-8556-7D12FE06A3AD}" type="parTrans" cxnId="{B5E777ED-76C5-4725-9933-E1CBE363F4CB}">
      <dgm:prSet/>
      <dgm:spPr/>
      <dgm:t>
        <a:bodyPr/>
        <a:lstStyle/>
        <a:p>
          <a:endParaRPr lang="en-US"/>
        </a:p>
      </dgm:t>
    </dgm:pt>
    <dgm:pt modelId="{0446D736-194B-4B83-B048-6441416DA2F3}" type="sibTrans" cxnId="{B5E777ED-76C5-4725-9933-E1CBE363F4CB}">
      <dgm:prSet/>
      <dgm:spPr/>
      <dgm:t>
        <a:bodyPr/>
        <a:lstStyle/>
        <a:p>
          <a:endParaRPr lang="en-US"/>
        </a:p>
      </dgm:t>
    </dgm:pt>
    <dgm:pt modelId="{91692442-4EC2-E848-B771-F788E03BD894}" type="pres">
      <dgm:prSet presAssocID="{B8C7C84B-2E71-412A-A89B-4D4D2BF0AD67}" presName="vert0" presStyleCnt="0">
        <dgm:presLayoutVars>
          <dgm:dir/>
          <dgm:animOne val="branch"/>
          <dgm:animLvl val="lvl"/>
        </dgm:presLayoutVars>
      </dgm:prSet>
      <dgm:spPr/>
    </dgm:pt>
    <dgm:pt modelId="{45CD4254-87FD-DD41-8745-DDE0CBF27369}" type="pres">
      <dgm:prSet presAssocID="{781C5C77-0F4A-4A03-9A1F-95C071647205}" presName="thickLine" presStyleLbl="alignNode1" presStyleIdx="0" presStyleCnt="6"/>
      <dgm:spPr/>
    </dgm:pt>
    <dgm:pt modelId="{2086D604-0722-4841-8433-95BB29313C36}" type="pres">
      <dgm:prSet presAssocID="{781C5C77-0F4A-4A03-9A1F-95C071647205}" presName="horz1" presStyleCnt="0"/>
      <dgm:spPr/>
    </dgm:pt>
    <dgm:pt modelId="{FA1ED58C-8B26-5848-9EE7-7897E6244BEB}" type="pres">
      <dgm:prSet presAssocID="{781C5C77-0F4A-4A03-9A1F-95C071647205}" presName="tx1" presStyleLbl="revTx" presStyleIdx="0" presStyleCnt="6"/>
      <dgm:spPr/>
    </dgm:pt>
    <dgm:pt modelId="{66B171BB-ADC5-4440-9243-7D5BCEA219CF}" type="pres">
      <dgm:prSet presAssocID="{781C5C77-0F4A-4A03-9A1F-95C071647205}" presName="vert1" presStyleCnt="0"/>
      <dgm:spPr/>
    </dgm:pt>
    <dgm:pt modelId="{713D64C0-8003-E340-9876-903B3AB5D6E0}" type="pres">
      <dgm:prSet presAssocID="{35FC7857-87DE-43E8-AF6C-30FB3843DD1C}" presName="thickLine" presStyleLbl="alignNode1" presStyleIdx="1" presStyleCnt="6"/>
      <dgm:spPr/>
    </dgm:pt>
    <dgm:pt modelId="{45EEB474-C63E-3145-8FF2-BAE96C56257D}" type="pres">
      <dgm:prSet presAssocID="{35FC7857-87DE-43E8-AF6C-30FB3843DD1C}" presName="horz1" presStyleCnt="0"/>
      <dgm:spPr/>
    </dgm:pt>
    <dgm:pt modelId="{8CD1F598-5922-984A-B80E-A77828A63387}" type="pres">
      <dgm:prSet presAssocID="{35FC7857-87DE-43E8-AF6C-30FB3843DD1C}" presName="tx1" presStyleLbl="revTx" presStyleIdx="1" presStyleCnt="6"/>
      <dgm:spPr/>
    </dgm:pt>
    <dgm:pt modelId="{3886AD02-17B7-5648-BE04-B823066F927F}" type="pres">
      <dgm:prSet presAssocID="{35FC7857-87DE-43E8-AF6C-30FB3843DD1C}" presName="vert1" presStyleCnt="0"/>
      <dgm:spPr/>
    </dgm:pt>
    <dgm:pt modelId="{04C58192-9310-694E-B6AA-20DDB5E5CD84}" type="pres">
      <dgm:prSet presAssocID="{939818DC-742D-47F6-8CDE-313C9204F4F6}" presName="thickLine" presStyleLbl="alignNode1" presStyleIdx="2" presStyleCnt="6"/>
      <dgm:spPr/>
    </dgm:pt>
    <dgm:pt modelId="{01D08B60-5D6C-7B43-9FC6-FFA595525D2A}" type="pres">
      <dgm:prSet presAssocID="{939818DC-742D-47F6-8CDE-313C9204F4F6}" presName="horz1" presStyleCnt="0"/>
      <dgm:spPr/>
    </dgm:pt>
    <dgm:pt modelId="{3D2BDD5F-9D27-2C47-B4EE-8852B1AEB8F2}" type="pres">
      <dgm:prSet presAssocID="{939818DC-742D-47F6-8CDE-313C9204F4F6}" presName="tx1" presStyleLbl="revTx" presStyleIdx="2" presStyleCnt="6"/>
      <dgm:spPr/>
    </dgm:pt>
    <dgm:pt modelId="{79391FFC-D13F-EC49-BBDC-102CD5EF2517}" type="pres">
      <dgm:prSet presAssocID="{939818DC-742D-47F6-8CDE-313C9204F4F6}" presName="vert1" presStyleCnt="0"/>
      <dgm:spPr/>
    </dgm:pt>
    <dgm:pt modelId="{36F339E6-F5A9-1749-8B45-CC72A238E0B1}" type="pres">
      <dgm:prSet presAssocID="{530547B7-0C13-41F4-ADC8-3CE64AF6415E}" presName="thickLine" presStyleLbl="alignNode1" presStyleIdx="3" presStyleCnt="6"/>
      <dgm:spPr/>
    </dgm:pt>
    <dgm:pt modelId="{51D7279D-512B-D843-B725-C0C4219F21DF}" type="pres">
      <dgm:prSet presAssocID="{530547B7-0C13-41F4-ADC8-3CE64AF6415E}" presName="horz1" presStyleCnt="0"/>
      <dgm:spPr/>
    </dgm:pt>
    <dgm:pt modelId="{CAEFD2C4-BC2E-7445-9F5B-41B1859AC8C2}" type="pres">
      <dgm:prSet presAssocID="{530547B7-0C13-41F4-ADC8-3CE64AF6415E}" presName="tx1" presStyleLbl="revTx" presStyleIdx="3" presStyleCnt="6"/>
      <dgm:spPr/>
    </dgm:pt>
    <dgm:pt modelId="{2006D656-51AB-A14B-91B7-E9647054633B}" type="pres">
      <dgm:prSet presAssocID="{530547B7-0C13-41F4-ADC8-3CE64AF6415E}" presName="vert1" presStyleCnt="0"/>
      <dgm:spPr/>
    </dgm:pt>
    <dgm:pt modelId="{C2F65B9E-C50A-DE40-A722-30C67402B921}" type="pres">
      <dgm:prSet presAssocID="{51A215F9-18B7-4BAF-9221-F449E32686C2}" presName="thickLine" presStyleLbl="alignNode1" presStyleIdx="4" presStyleCnt="6"/>
      <dgm:spPr/>
    </dgm:pt>
    <dgm:pt modelId="{232F1195-ED64-A74D-AB2D-664F830F4733}" type="pres">
      <dgm:prSet presAssocID="{51A215F9-18B7-4BAF-9221-F449E32686C2}" presName="horz1" presStyleCnt="0"/>
      <dgm:spPr/>
    </dgm:pt>
    <dgm:pt modelId="{AA53877E-2617-6B43-926C-CAEBEC33B2C5}" type="pres">
      <dgm:prSet presAssocID="{51A215F9-18B7-4BAF-9221-F449E32686C2}" presName="tx1" presStyleLbl="revTx" presStyleIdx="4" presStyleCnt="6"/>
      <dgm:spPr/>
    </dgm:pt>
    <dgm:pt modelId="{E912C49D-9135-044E-B226-15B6D13F6535}" type="pres">
      <dgm:prSet presAssocID="{51A215F9-18B7-4BAF-9221-F449E32686C2}" presName="vert1" presStyleCnt="0"/>
      <dgm:spPr/>
    </dgm:pt>
    <dgm:pt modelId="{23083892-6143-0C42-8CF5-C5840A164817}" type="pres">
      <dgm:prSet presAssocID="{92C2BC1A-5223-4292-8311-335CB09BD192}" presName="thickLine" presStyleLbl="alignNode1" presStyleIdx="5" presStyleCnt="6"/>
      <dgm:spPr/>
    </dgm:pt>
    <dgm:pt modelId="{262C9E27-2F3B-D54A-B422-88F081A24885}" type="pres">
      <dgm:prSet presAssocID="{92C2BC1A-5223-4292-8311-335CB09BD192}" presName="horz1" presStyleCnt="0"/>
      <dgm:spPr/>
    </dgm:pt>
    <dgm:pt modelId="{E6F8F40D-19F9-064C-BA94-82EA3DCF4BAE}" type="pres">
      <dgm:prSet presAssocID="{92C2BC1A-5223-4292-8311-335CB09BD192}" presName="tx1" presStyleLbl="revTx" presStyleIdx="5" presStyleCnt="6"/>
      <dgm:spPr/>
    </dgm:pt>
    <dgm:pt modelId="{881193DD-EE5E-B447-A245-F03AB8E131F9}" type="pres">
      <dgm:prSet presAssocID="{92C2BC1A-5223-4292-8311-335CB09BD192}" presName="vert1" presStyleCnt="0"/>
      <dgm:spPr/>
    </dgm:pt>
  </dgm:ptLst>
  <dgm:cxnLst>
    <dgm:cxn modelId="{3473060D-7436-4EC4-9FBF-11611214582C}" srcId="{B8C7C84B-2E71-412A-A89B-4D4D2BF0AD67}" destId="{781C5C77-0F4A-4A03-9A1F-95C071647205}" srcOrd="0" destOrd="0" parTransId="{4838066C-412A-4AC6-827B-2D118F6397F5}" sibTransId="{9C2C571B-F77D-4E26-97FE-FFB193B89F68}"/>
    <dgm:cxn modelId="{D45EB238-DAEE-6743-9743-36F5F86D67FC}" type="presOf" srcId="{530547B7-0C13-41F4-ADC8-3CE64AF6415E}" destId="{CAEFD2C4-BC2E-7445-9F5B-41B1859AC8C2}" srcOrd="0" destOrd="0" presId="urn:microsoft.com/office/officeart/2008/layout/LinedList"/>
    <dgm:cxn modelId="{8DE32345-8B19-42FD-A51C-8DDD021785D7}" srcId="{B8C7C84B-2E71-412A-A89B-4D4D2BF0AD67}" destId="{35FC7857-87DE-43E8-AF6C-30FB3843DD1C}" srcOrd="1" destOrd="0" parTransId="{94EEB272-37E3-44C1-8345-68D6F0EA1FAE}" sibTransId="{7489EA19-2A6B-4C79-9807-F163B0A52FDF}"/>
    <dgm:cxn modelId="{DCA4B655-B1F6-BA41-B3EA-690415273E5D}" type="presOf" srcId="{B8C7C84B-2E71-412A-A89B-4D4D2BF0AD67}" destId="{91692442-4EC2-E848-B771-F788E03BD894}" srcOrd="0" destOrd="0" presId="urn:microsoft.com/office/officeart/2008/layout/LinedList"/>
    <dgm:cxn modelId="{F573B17A-58A2-7C47-B9ED-11B6960CB1C9}" type="presOf" srcId="{781C5C77-0F4A-4A03-9A1F-95C071647205}" destId="{FA1ED58C-8B26-5848-9EE7-7897E6244BEB}" srcOrd="0" destOrd="0" presId="urn:microsoft.com/office/officeart/2008/layout/LinedList"/>
    <dgm:cxn modelId="{C506E17F-16E6-45A4-A771-C134B870C7AC}" srcId="{B8C7C84B-2E71-412A-A89B-4D4D2BF0AD67}" destId="{51A215F9-18B7-4BAF-9221-F449E32686C2}" srcOrd="4" destOrd="0" parTransId="{29440E32-E83A-42C2-82D2-61CA31774E4B}" sibTransId="{278107CD-51C1-4584-8456-67B92B0FDB42}"/>
    <dgm:cxn modelId="{ACB4DF98-86FA-3C41-B423-8CF22C37A563}" type="presOf" srcId="{92C2BC1A-5223-4292-8311-335CB09BD192}" destId="{E6F8F40D-19F9-064C-BA94-82EA3DCF4BAE}" srcOrd="0" destOrd="0" presId="urn:microsoft.com/office/officeart/2008/layout/LinedList"/>
    <dgm:cxn modelId="{C299719A-6C5F-4234-B0C4-31A2CDCC9CB9}" srcId="{B8C7C84B-2E71-412A-A89B-4D4D2BF0AD67}" destId="{530547B7-0C13-41F4-ADC8-3CE64AF6415E}" srcOrd="3" destOrd="0" parTransId="{0E038192-5FEC-4F72-B86A-0B73C122A7C5}" sibTransId="{41942A8A-01B2-43D7-8245-C691D8B52C22}"/>
    <dgm:cxn modelId="{7219C99C-6D61-4804-ADD1-C98A16D7986B}" srcId="{B8C7C84B-2E71-412A-A89B-4D4D2BF0AD67}" destId="{939818DC-742D-47F6-8CDE-313C9204F4F6}" srcOrd="2" destOrd="0" parTransId="{57CFEFCE-9451-4490-AB3A-DABE30607E1C}" sibTransId="{B4FF5009-6BE2-4C0F-8B67-AE429EBCB308}"/>
    <dgm:cxn modelId="{0092F3A5-C5C4-D147-B3DF-B60B040818D3}" type="presOf" srcId="{35FC7857-87DE-43E8-AF6C-30FB3843DD1C}" destId="{8CD1F598-5922-984A-B80E-A77828A63387}" srcOrd="0" destOrd="0" presId="urn:microsoft.com/office/officeart/2008/layout/LinedList"/>
    <dgm:cxn modelId="{C3CF91C9-1E8A-CA41-94CB-878CF038676C}" type="presOf" srcId="{939818DC-742D-47F6-8CDE-313C9204F4F6}" destId="{3D2BDD5F-9D27-2C47-B4EE-8852B1AEB8F2}" srcOrd="0" destOrd="0" presId="urn:microsoft.com/office/officeart/2008/layout/LinedList"/>
    <dgm:cxn modelId="{812A3CCA-7317-3146-88AD-21DE0864573B}" type="presOf" srcId="{51A215F9-18B7-4BAF-9221-F449E32686C2}" destId="{AA53877E-2617-6B43-926C-CAEBEC33B2C5}" srcOrd="0" destOrd="0" presId="urn:microsoft.com/office/officeart/2008/layout/LinedList"/>
    <dgm:cxn modelId="{B5E777ED-76C5-4725-9933-E1CBE363F4CB}" srcId="{B8C7C84B-2E71-412A-A89B-4D4D2BF0AD67}" destId="{92C2BC1A-5223-4292-8311-335CB09BD192}" srcOrd="5" destOrd="0" parTransId="{949941A5-9CF1-4EFE-8556-7D12FE06A3AD}" sibTransId="{0446D736-194B-4B83-B048-6441416DA2F3}"/>
    <dgm:cxn modelId="{108EA5E7-2671-2449-A1F3-61315E7CA508}" type="presParOf" srcId="{91692442-4EC2-E848-B771-F788E03BD894}" destId="{45CD4254-87FD-DD41-8745-DDE0CBF27369}" srcOrd="0" destOrd="0" presId="urn:microsoft.com/office/officeart/2008/layout/LinedList"/>
    <dgm:cxn modelId="{0F2A7033-C1FE-9E42-AFE5-600D9F6B7F78}" type="presParOf" srcId="{91692442-4EC2-E848-B771-F788E03BD894}" destId="{2086D604-0722-4841-8433-95BB29313C36}" srcOrd="1" destOrd="0" presId="urn:microsoft.com/office/officeart/2008/layout/LinedList"/>
    <dgm:cxn modelId="{28B9DE83-648E-0A4D-9386-3346061D3F59}" type="presParOf" srcId="{2086D604-0722-4841-8433-95BB29313C36}" destId="{FA1ED58C-8B26-5848-9EE7-7897E6244BEB}" srcOrd="0" destOrd="0" presId="urn:microsoft.com/office/officeart/2008/layout/LinedList"/>
    <dgm:cxn modelId="{9F5B0C51-4584-7443-BBB7-B6D3BC5CF882}" type="presParOf" srcId="{2086D604-0722-4841-8433-95BB29313C36}" destId="{66B171BB-ADC5-4440-9243-7D5BCEA219CF}" srcOrd="1" destOrd="0" presId="urn:microsoft.com/office/officeart/2008/layout/LinedList"/>
    <dgm:cxn modelId="{03A9BA3D-0B9E-7244-8CBE-B75F6497AEE8}" type="presParOf" srcId="{91692442-4EC2-E848-B771-F788E03BD894}" destId="{713D64C0-8003-E340-9876-903B3AB5D6E0}" srcOrd="2" destOrd="0" presId="urn:microsoft.com/office/officeart/2008/layout/LinedList"/>
    <dgm:cxn modelId="{BC1C84DD-53EF-3E4F-9962-D8587E54CCDD}" type="presParOf" srcId="{91692442-4EC2-E848-B771-F788E03BD894}" destId="{45EEB474-C63E-3145-8FF2-BAE96C56257D}" srcOrd="3" destOrd="0" presId="urn:microsoft.com/office/officeart/2008/layout/LinedList"/>
    <dgm:cxn modelId="{66D1C4EC-E537-1B41-B814-41884333D7AF}" type="presParOf" srcId="{45EEB474-C63E-3145-8FF2-BAE96C56257D}" destId="{8CD1F598-5922-984A-B80E-A77828A63387}" srcOrd="0" destOrd="0" presId="urn:microsoft.com/office/officeart/2008/layout/LinedList"/>
    <dgm:cxn modelId="{60E4019C-6D48-FC41-97B5-3D9AE52D0306}" type="presParOf" srcId="{45EEB474-C63E-3145-8FF2-BAE96C56257D}" destId="{3886AD02-17B7-5648-BE04-B823066F927F}" srcOrd="1" destOrd="0" presId="urn:microsoft.com/office/officeart/2008/layout/LinedList"/>
    <dgm:cxn modelId="{4C01FF96-835C-6B46-B053-779A4D75C338}" type="presParOf" srcId="{91692442-4EC2-E848-B771-F788E03BD894}" destId="{04C58192-9310-694E-B6AA-20DDB5E5CD84}" srcOrd="4" destOrd="0" presId="urn:microsoft.com/office/officeart/2008/layout/LinedList"/>
    <dgm:cxn modelId="{16E86D0C-5D07-7643-A331-1E92425399E0}" type="presParOf" srcId="{91692442-4EC2-E848-B771-F788E03BD894}" destId="{01D08B60-5D6C-7B43-9FC6-FFA595525D2A}" srcOrd="5" destOrd="0" presId="urn:microsoft.com/office/officeart/2008/layout/LinedList"/>
    <dgm:cxn modelId="{E6EAE03B-B363-5045-A1D7-1CC3F910FC89}" type="presParOf" srcId="{01D08B60-5D6C-7B43-9FC6-FFA595525D2A}" destId="{3D2BDD5F-9D27-2C47-B4EE-8852B1AEB8F2}" srcOrd="0" destOrd="0" presId="urn:microsoft.com/office/officeart/2008/layout/LinedList"/>
    <dgm:cxn modelId="{60E04A40-E65D-664C-8B5C-E599241CE5FF}" type="presParOf" srcId="{01D08B60-5D6C-7B43-9FC6-FFA595525D2A}" destId="{79391FFC-D13F-EC49-BBDC-102CD5EF2517}" srcOrd="1" destOrd="0" presId="urn:microsoft.com/office/officeart/2008/layout/LinedList"/>
    <dgm:cxn modelId="{1C701EDE-903F-B046-864E-27C7A0105ECB}" type="presParOf" srcId="{91692442-4EC2-E848-B771-F788E03BD894}" destId="{36F339E6-F5A9-1749-8B45-CC72A238E0B1}" srcOrd="6" destOrd="0" presId="urn:microsoft.com/office/officeart/2008/layout/LinedList"/>
    <dgm:cxn modelId="{417D6D8E-50AE-E040-8090-80679E141D5B}" type="presParOf" srcId="{91692442-4EC2-E848-B771-F788E03BD894}" destId="{51D7279D-512B-D843-B725-C0C4219F21DF}" srcOrd="7" destOrd="0" presId="urn:microsoft.com/office/officeart/2008/layout/LinedList"/>
    <dgm:cxn modelId="{486134BF-FACF-BD48-A87E-ADCF28B04A95}" type="presParOf" srcId="{51D7279D-512B-D843-B725-C0C4219F21DF}" destId="{CAEFD2C4-BC2E-7445-9F5B-41B1859AC8C2}" srcOrd="0" destOrd="0" presId="urn:microsoft.com/office/officeart/2008/layout/LinedList"/>
    <dgm:cxn modelId="{263A9AF9-C1BA-1543-8DA9-53E9A083A9AC}" type="presParOf" srcId="{51D7279D-512B-D843-B725-C0C4219F21DF}" destId="{2006D656-51AB-A14B-91B7-E9647054633B}" srcOrd="1" destOrd="0" presId="urn:microsoft.com/office/officeart/2008/layout/LinedList"/>
    <dgm:cxn modelId="{7921CA0A-BD27-5B47-8727-152890A83654}" type="presParOf" srcId="{91692442-4EC2-E848-B771-F788E03BD894}" destId="{C2F65B9E-C50A-DE40-A722-30C67402B921}" srcOrd="8" destOrd="0" presId="urn:microsoft.com/office/officeart/2008/layout/LinedList"/>
    <dgm:cxn modelId="{4B5085DB-95E7-3C46-BDA4-7F1676279954}" type="presParOf" srcId="{91692442-4EC2-E848-B771-F788E03BD894}" destId="{232F1195-ED64-A74D-AB2D-664F830F4733}" srcOrd="9" destOrd="0" presId="urn:microsoft.com/office/officeart/2008/layout/LinedList"/>
    <dgm:cxn modelId="{1E9DD931-7F86-7242-BB80-FD9B906A6157}" type="presParOf" srcId="{232F1195-ED64-A74D-AB2D-664F830F4733}" destId="{AA53877E-2617-6B43-926C-CAEBEC33B2C5}" srcOrd="0" destOrd="0" presId="urn:microsoft.com/office/officeart/2008/layout/LinedList"/>
    <dgm:cxn modelId="{0C9F3D2A-DC10-6D43-B74F-97968EF3105D}" type="presParOf" srcId="{232F1195-ED64-A74D-AB2D-664F830F4733}" destId="{E912C49D-9135-044E-B226-15B6D13F6535}" srcOrd="1" destOrd="0" presId="urn:microsoft.com/office/officeart/2008/layout/LinedList"/>
    <dgm:cxn modelId="{161C50B2-E7B5-4946-8C5D-2E52881F9460}" type="presParOf" srcId="{91692442-4EC2-E848-B771-F788E03BD894}" destId="{23083892-6143-0C42-8CF5-C5840A164817}" srcOrd="10" destOrd="0" presId="urn:microsoft.com/office/officeart/2008/layout/LinedList"/>
    <dgm:cxn modelId="{E65CAF29-D9B1-9941-9372-C37E9AC1FAD4}" type="presParOf" srcId="{91692442-4EC2-E848-B771-F788E03BD894}" destId="{262C9E27-2F3B-D54A-B422-88F081A24885}" srcOrd="11" destOrd="0" presId="urn:microsoft.com/office/officeart/2008/layout/LinedList"/>
    <dgm:cxn modelId="{DC59C7D1-B825-E34D-A5DE-87132EB6B73C}" type="presParOf" srcId="{262C9E27-2F3B-D54A-B422-88F081A24885}" destId="{E6F8F40D-19F9-064C-BA94-82EA3DCF4BAE}" srcOrd="0" destOrd="0" presId="urn:microsoft.com/office/officeart/2008/layout/LinedList"/>
    <dgm:cxn modelId="{CF0CAE24-2858-2E43-9D5F-4BCE55104051}" type="presParOf" srcId="{262C9E27-2F3B-D54A-B422-88F081A24885}" destId="{881193DD-EE5E-B447-A245-F03AB8E131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4EB1B-B6E9-47AD-97FF-26AA4699C6CF}">
      <dsp:nvSpPr>
        <dsp:cNvPr id="0" name=""/>
        <dsp:cNvSpPr/>
      </dsp:nvSpPr>
      <dsp:spPr>
        <a:xfrm>
          <a:off x="1212569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43326-8B7D-4076-B907-7198000D843E}">
      <dsp:nvSpPr>
        <dsp:cNvPr id="0" name=""/>
        <dsp:cNvSpPr/>
      </dsp:nvSpPr>
      <dsp:spPr>
        <a:xfrm>
          <a:off x="417971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Plagiarism</a:t>
          </a:r>
        </a:p>
      </dsp:txBody>
      <dsp:txXfrm>
        <a:off x="417971" y="2647231"/>
        <a:ext cx="2889450" cy="720000"/>
      </dsp:txXfrm>
    </dsp:sp>
    <dsp:sp modelId="{490D7392-B079-46E4-86B1-22496C263DDD}">
      <dsp:nvSpPr>
        <dsp:cNvPr id="0" name=""/>
        <dsp:cNvSpPr/>
      </dsp:nvSpPr>
      <dsp:spPr>
        <a:xfrm>
          <a:off x="4607673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B5D45-380F-481D-82EA-0CCA87908D59}">
      <dsp:nvSpPr>
        <dsp:cNvPr id="0" name=""/>
        <dsp:cNvSpPr/>
      </dsp:nvSpPr>
      <dsp:spPr>
        <a:xfrm>
          <a:off x="3813074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Assigning credit </a:t>
          </a:r>
        </a:p>
      </dsp:txBody>
      <dsp:txXfrm>
        <a:off x="3813074" y="2647231"/>
        <a:ext cx="2889450" cy="720000"/>
      </dsp:txXfrm>
    </dsp:sp>
    <dsp:sp modelId="{37164846-FC05-451F-8B8D-C016313B0108}">
      <dsp:nvSpPr>
        <dsp:cNvPr id="0" name=""/>
        <dsp:cNvSpPr/>
      </dsp:nvSpPr>
      <dsp:spPr>
        <a:xfrm>
          <a:off x="8002777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AF2A3-3876-4E6A-9E99-48D6CE1EA9F7}">
      <dsp:nvSpPr>
        <dsp:cNvPr id="0" name=""/>
        <dsp:cNvSpPr/>
      </dsp:nvSpPr>
      <dsp:spPr>
        <a:xfrm>
          <a:off x="7208178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Using chatbots  </a:t>
          </a:r>
        </a:p>
      </dsp:txBody>
      <dsp:txXfrm>
        <a:off x="7208178" y="2647231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D4254-87FD-DD41-8745-DDE0CBF27369}">
      <dsp:nvSpPr>
        <dsp:cNvPr id="0" name=""/>
        <dsp:cNvSpPr/>
      </dsp:nvSpPr>
      <dsp:spPr>
        <a:xfrm>
          <a:off x="0" y="2723"/>
          <a:ext cx="69677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ED58C-8B26-5848-9EE7-7897E6244BEB}">
      <dsp:nvSpPr>
        <dsp:cNvPr id="0" name=""/>
        <dsp:cNvSpPr/>
      </dsp:nvSpPr>
      <dsp:spPr>
        <a:xfrm>
          <a:off x="0" y="2723"/>
          <a:ext cx="6967728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Clarity is a primary goal. It is helped by consistent use of precise words.</a:t>
          </a:r>
          <a:endParaRPr lang="en-US" sz="1800" kern="1200"/>
        </a:p>
      </dsp:txBody>
      <dsp:txXfrm>
        <a:off x="0" y="2723"/>
        <a:ext cx="6967728" cy="928732"/>
      </dsp:txXfrm>
    </dsp:sp>
    <dsp:sp modelId="{713D64C0-8003-E340-9876-903B3AB5D6E0}">
      <dsp:nvSpPr>
        <dsp:cNvPr id="0" name=""/>
        <dsp:cNvSpPr/>
      </dsp:nvSpPr>
      <dsp:spPr>
        <a:xfrm>
          <a:off x="0" y="931455"/>
          <a:ext cx="69677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1F598-5922-984A-B80E-A77828A63387}">
      <dsp:nvSpPr>
        <dsp:cNvPr id="0" name=""/>
        <dsp:cNvSpPr/>
      </dsp:nvSpPr>
      <dsp:spPr>
        <a:xfrm>
          <a:off x="0" y="931455"/>
          <a:ext cx="6967728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Brevity is a virtue. Aim for short, streamlined sentences that are seamlessly connected in building up your logical arguments.</a:t>
          </a:r>
          <a:endParaRPr lang="en-US" sz="1800" kern="1200"/>
        </a:p>
      </dsp:txBody>
      <dsp:txXfrm>
        <a:off x="0" y="931455"/>
        <a:ext cx="6967728" cy="928732"/>
      </dsp:txXfrm>
    </dsp:sp>
    <dsp:sp modelId="{04C58192-9310-694E-B6AA-20DDB5E5CD84}">
      <dsp:nvSpPr>
        <dsp:cNvPr id="0" name=""/>
        <dsp:cNvSpPr/>
      </dsp:nvSpPr>
      <dsp:spPr>
        <a:xfrm>
          <a:off x="0" y="1860187"/>
          <a:ext cx="69677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BDD5F-9D27-2C47-B4EE-8852B1AEB8F2}">
      <dsp:nvSpPr>
        <dsp:cNvPr id="0" name=""/>
        <dsp:cNvSpPr/>
      </dsp:nvSpPr>
      <dsp:spPr>
        <a:xfrm>
          <a:off x="0" y="1860187"/>
          <a:ext cx="6967728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Always begin with the reason. Tell the readers why you’re writing the things that you’re writing. Do not describe what you did before you explain why you did it.</a:t>
          </a:r>
          <a:endParaRPr lang="en-US" sz="1800" kern="1200"/>
        </a:p>
      </dsp:txBody>
      <dsp:txXfrm>
        <a:off x="0" y="1860187"/>
        <a:ext cx="6967728" cy="928732"/>
      </dsp:txXfrm>
    </dsp:sp>
    <dsp:sp modelId="{36F339E6-F5A9-1749-8B45-CC72A238E0B1}">
      <dsp:nvSpPr>
        <dsp:cNvPr id="0" name=""/>
        <dsp:cNvSpPr/>
      </dsp:nvSpPr>
      <dsp:spPr>
        <a:xfrm>
          <a:off x="0" y="2788919"/>
          <a:ext cx="69677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FD2C4-BC2E-7445-9F5B-41B1859AC8C2}">
      <dsp:nvSpPr>
        <dsp:cNvPr id="0" name=""/>
        <dsp:cNvSpPr/>
      </dsp:nvSpPr>
      <dsp:spPr>
        <a:xfrm>
          <a:off x="0" y="2788919"/>
          <a:ext cx="6967728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Minimize the use of adjectives and make sure the remaining ones do not do much work.</a:t>
          </a:r>
          <a:endParaRPr lang="en-US" sz="1800" kern="1200"/>
        </a:p>
      </dsp:txBody>
      <dsp:txXfrm>
        <a:off x="0" y="2788919"/>
        <a:ext cx="6967728" cy="928732"/>
      </dsp:txXfrm>
    </dsp:sp>
    <dsp:sp modelId="{C2F65B9E-C50A-DE40-A722-30C67402B921}">
      <dsp:nvSpPr>
        <dsp:cNvPr id="0" name=""/>
        <dsp:cNvSpPr/>
      </dsp:nvSpPr>
      <dsp:spPr>
        <a:xfrm>
          <a:off x="0" y="3717652"/>
          <a:ext cx="69677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3877E-2617-6B43-926C-CAEBEC33B2C5}">
      <dsp:nvSpPr>
        <dsp:cNvPr id="0" name=""/>
        <dsp:cNvSpPr/>
      </dsp:nvSpPr>
      <dsp:spPr>
        <a:xfrm>
          <a:off x="0" y="3717652"/>
          <a:ext cx="6967728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Read your draft and pause after each statement to think of counterexamples, counterarguments or possible misinterpretations. If you can think of one, revise it.</a:t>
          </a:r>
          <a:endParaRPr lang="en-US" sz="1800" kern="1200"/>
        </a:p>
      </dsp:txBody>
      <dsp:txXfrm>
        <a:off x="0" y="3717652"/>
        <a:ext cx="6967728" cy="928732"/>
      </dsp:txXfrm>
    </dsp:sp>
    <dsp:sp modelId="{23083892-6143-0C42-8CF5-C5840A164817}">
      <dsp:nvSpPr>
        <dsp:cNvPr id="0" name=""/>
        <dsp:cNvSpPr/>
      </dsp:nvSpPr>
      <dsp:spPr>
        <a:xfrm>
          <a:off x="0" y="4646384"/>
          <a:ext cx="69677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8F40D-19F9-064C-BA94-82EA3DCF4BAE}">
      <dsp:nvSpPr>
        <dsp:cNvPr id="0" name=""/>
        <dsp:cNvSpPr/>
      </dsp:nvSpPr>
      <dsp:spPr>
        <a:xfrm>
          <a:off x="0" y="4646384"/>
          <a:ext cx="6967728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Be willing to critically evaluate your own writing and take constructive feedback as much as possible.</a:t>
          </a:r>
          <a:endParaRPr lang="en-US" sz="1800" kern="1200" dirty="0"/>
        </a:p>
      </dsp:txBody>
      <dsp:txXfrm>
        <a:off x="0" y="4646384"/>
        <a:ext cx="6967728" cy="928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A27D3-0CC7-934B-85C6-96FBF84258AF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5597C-1557-0B42-95FD-84BAB43A2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8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process. You need many skills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34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9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3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85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56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8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24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88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79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31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9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8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7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7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9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7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2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8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9" r:id="rId6"/>
    <p:sldLayoutId id="2147483744" r:id="rId7"/>
    <p:sldLayoutId id="2147483745" r:id="rId8"/>
    <p:sldLayoutId id="2147483746" r:id="rId9"/>
    <p:sldLayoutId id="2147483748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lavovlab.net/2013/09/26/the-best-projects-are-least-obviou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lavovlab.net/2019/12/31/research-succes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northeastern.edu/slavovlab/blog/2019/03/10/evaluating-preprint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lavovlab.net/2020/07/15/promoting-your-research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witter.com/slavovLab/status/1211007006208712706?s=20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lavovlab.net/2024/02/12/communicating-writing-up-research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>
            <a:extLst>
              <a:ext uri="{FF2B5EF4-FFF2-40B4-BE49-F238E27FC236}">
                <a16:creationId xmlns:a16="http://schemas.microsoft.com/office/drawing/2014/main" id="{5CFA1AA5-D4C7-4735-B5E9-76794FAEC3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775" b="295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D19661F-4B4C-74C1-7FC3-31FB14D4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6955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75FAB-C4CB-E84E-8E39-31784FA9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487" y="1124712"/>
            <a:ext cx="5137037" cy="3200400"/>
          </a:xfrm>
        </p:spPr>
        <p:txBody>
          <a:bodyPr anchor="b">
            <a:normAutofit/>
          </a:bodyPr>
          <a:lstStyle/>
          <a:p>
            <a:r>
              <a:rPr lang="en-US" sz="4000" b="1" i="1" dirty="0"/>
              <a:t>Method and Logic in Systems Biology and Bioengineering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E987F-B609-754B-8688-84EAAAB0D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488" y="4873752"/>
            <a:ext cx="4023360" cy="1207008"/>
          </a:xfrm>
        </p:spPr>
        <p:txBody>
          <a:bodyPr anchor="t">
            <a:normAutofit/>
          </a:bodyPr>
          <a:lstStyle/>
          <a:p>
            <a:r>
              <a:rPr lang="en-US" sz="2000" dirty="0"/>
              <a:t>Introduction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E701D1-A34F-CF86-7316-8761C7835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725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B6000-8D44-CBCC-0709-72E39DA6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Introduction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white and red website with black text&#10;&#10;Description automatically generated">
            <a:extLst>
              <a:ext uri="{FF2B5EF4-FFF2-40B4-BE49-F238E27FC236}">
                <a16:creationId xmlns:a16="http://schemas.microsoft.com/office/drawing/2014/main" id="{252C5D19-F31A-6166-BE0F-5C92FF73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99" y="771989"/>
            <a:ext cx="6814750" cy="4872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D5FD9B-43F0-623C-06F0-E0D3545E66D8}"/>
              </a:ext>
            </a:extLst>
          </p:cNvPr>
          <p:cNvSpPr txBox="1"/>
          <p:nvPr/>
        </p:nvSpPr>
        <p:spPr>
          <a:xfrm>
            <a:off x="4928693" y="6444455"/>
            <a:ext cx="7490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200" dirty="0"/>
              <a:t>https://</a:t>
            </a:r>
            <a:r>
              <a:rPr lang="en-US" b="1" spc="200" dirty="0" err="1"/>
              <a:t>coe.northeastern.edu</a:t>
            </a:r>
            <a:r>
              <a:rPr lang="en-US" b="1" spc="200" dirty="0"/>
              <a:t>/people/</a:t>
            </a:r>
            <a:r>
              <a:rPr lang="en-US" b="1" spc="200" dirty="0" err="1"/>
              <a:t>slavov-nikolai</a:t>
            </a:r>
            <a:endParaRPr lang="en-US" b="1" spc="200" dirty="0"/>
          </a:p>
        </p:txBody>
      </p:sp>
    </p:spTree>
    <p:extLst>
      <p:ext uri="{BB962C8B-B14F-4D97-AF65-F5344CB8AC3E}">
        <p14:creationId xmlns:p14="http://schemas.microsoft.com/office/powerpoint/2010/main" val="257062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b="1" dirty="0"/>
              <a:t>Introduction to research </a:t>
            </a:r>
          </a:p>
          <a:p>
            <a:pPr marL="0" indent="0" algn="ctr">
              <a:buNone/>
            </a:pPr>
            <a:r>
              <a:rPr lang="en-US" sz="4000" dirty="0"/>
              <a:t>Student </a:t>
            </a:r>
            <a:r>
              <a:rPr lang="en-US" sz="4000" dirty="0">
                <a:sym typeface="Wingdings" pitchFamily="2" charset="2"/>
              </a:rPr>
              <a:t> Researcher</a:t>
            </a:r>
          </a:p>
          <a:p>
            <a:pPr marL="0" indent="0" algn="ctr">
              <a:buNone/>
            </a:pPr>
            <a:endParaRPr lang="en-US" sz="4000" dirty="0">
              <a:sym typeface="Wingdings" pitchFamily="2" charset="2"/>
            </a:endParaRPr>
          </a:p>
          <a:p>
            <a:pPr marL="0" indent="0" algn="ctr">
              <a:buNone/>
            </a:pPr>
            <a:r>
              <a:rPr lang="en-US" sz="4000" b="1" dirty="0"/>
              <a:t>Interactive discussions </a:t>
            </a:r>
          </a:p>
          <a:p>
            <a:pPr marL="0" indent="0" algn="ctr">
              <a:buNone/>
            </a:pPr>
            <a:r>
              <a:rPr lang="en-US" sz="4000" dirty="0"/>
              <a:t>Conceptual questions</a:t>
            </a:r>
            <a:endParaRPr lang="en-US" sz="4000" dirty="0">
              <a:sym typeface="Wingdings" pitchFamily="2" charset="2"/>
            </a:endParaRPr>
          </a:p>
          <a:p>
            <a:pPr marL="0" indent="0" algn="ctr">
              <a:buNone/>
            </a:pPr>
            <a:endParaRPr lang="en-US" sz="4000" dirty="0">
              <a:sym typeface="Wingdings" pitchFamily="2" charset="2"/>
            </a:endParaRPr>
          </a:p>
          <a:p>
            <a:pPr marL="0" indent="0" algn="ctr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60693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Syllabus  &amp;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3 Lecture &amp; discussion</a:t>
            </a:r>
          </a:p>
          <a:p>
            <a:pPr lvl="0"/>
            <a:r>
              <a:rPr lang="en-US" sz="3600" dirty="0"/>
              <a:t>9 Paper discussions -- 1 student / article</a:t>
            </a:r>
          </a:p>
          <a:p>
            <a:pPr lvl="0"/>
            <a:r>
              <a:rPr lang="en-US" sz="3600" dirty="0"/>
              <a:t>3 Faculty presentations </a:t>
            </a:r>
          </a:p>
          <a:p>
            <a:pPr lvl="0"/>
            <a:r>
              <a:rPr lang="en-US" sz="3600" dirty="0"/>
              <a:t>9 Student presentations</a:t>
            </a:r>
          </a:p>
          <a:p>
            <a:pPr lvl="1"/>
            <a:r>
              <a:rPr lang="en-US" sz="3200" dirty="0"/>
              <a:t>Present </a:t>
            </a:r>
            <a:r>
              <a:rPr lang="en-US" sz="3200"/>
              <a:t>a proposal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6488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Logistics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sz="3600" dirty="0"/>
          </a:p>
          <a:p>
            <a:pPr lvl="0"/>
            <a:r>
              <a:rPr lang="en-US" sz="3600" b="1" dirty="0"/>
              <a:t>Office Hours:</a:t>
            </a:r>
            <a:r>
              <a:rPr lang="en-US" sz="3600" dirty="0"/>
              <a:t> Tuesdays @ noon at </a:t>
            </a:r>
            <a:r>
              <a:rPr lang="en-US" sz="3600" dirty="0" err="1"/>
              <a:t>Mugar</a:t>
            </a:r>
            <a:r>
              <a:rPr lang="en-US" sz="3600" dirty="0"/>
              <a:t> 334  </a:t>
            </a:r>
          </a:p>
          <a:p>
            <a:pPr lvl="0"/>
            <a:r>
              <a:rPr lang="en-US" sz="3600" b="1" dirty="0"/>
              <a:t>Student presentations:</a:t>
            </a:r>
            <a:endParaRPr lang="en-US" sz="3600" dirty="0"/>
          </a:p>
          <a:p>
            <a:pPr lvl="1"/>
            <a:r>
              <a:rPr lang="en-US" sz="3200" dirty="0"/>
              <a:t>Written proposal up to 3 pages </a:t>
            </a:r>
          </a:p>
          <a:p>
            <a:pPr lvl="1"/>
            <a:r>
              <a:rPr lang="en-US" sz="3200" dirty="0"/>
              <a:t>Proposals are due before March 20</a:t>
            </a:r>
            <a:r>
              <a:rPr lang="en-US" sz="3200" baseline="30000" dirty="0"/>
              <a:t>th</a:t>
            </a:r>
            <a:endParaRPr lang="en-US" sz="3200" dirty="0"/>
          </a:p>
          <a:p>
            <a:pPr marL="457200" lvl="1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88387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sz="4000" dirty="0"/>
          </a:p>
          <a:p>
            <a:pPr lvl="0"/>
            <a:r>
              <a:rPr lang="en-US" sz="4000" dirty="0"/>
              <a:t>Proposal &amp; presentation:              40 %</a:t>
            </a:r>
          </a:p>
          <a:p>
            <a:pPr lvl="0"/>
            <a:r>
              <a:rPr lang="en-US" sz="4000" dirty="0"/>
              <a:t>Paper discussion:      			   40 %</a:t>
            </a:r>
          </a:p>
          <a:p>
            <a:pPr lvl="0"/>
            <a:r>
              <a:rPr lang="en-US" sz="4000" dirty="0"/>
              <a:t>Class participation:   			   20 %</a:t>
            </a:r>
          </a:p>
        </p:txBody>
      </p:sp>
    </p:spTree>
    <p:extLst>
      <p:ext uri="{BB962C8B-B14F-4D97-AF65-F5344CB8AC3E}">
        <p14:creationId xmlns:p14="http://schemas.microsoft.com/office/powerpoint/2010/main" val="38991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Research ecosystem, trends &amp; challenges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97C9255-E3F3-D090-E4A5-38D63DA1B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32" y="2513386"/>
            <a:ext cx="10566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4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Research within &amp; outside of academia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532992"/>
            <a:ext cx="10168128" cy="3639207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Choosing direction and strategy </a:t>
            </a:r>
          </a:p>
          <a:p>
            <a:endParaRPr lang="en-US" sz="4000" dirty="0"/>
          </a:p>
          <a:p>
            <a:r>
              <a:rPr lang="en-US" sz="4000" dirty="0"/>
              <a:t>Communicating your results</a:t>
            </a:r>
          </a:p>
          <a:p>
            <a:endParaRPr lang="en-US" sz="4000" dirty="0"/>
          </a:p>
          <a:p>
            <a:pPr lvl="0"/>
            <a:r>
              <a:rPr lang="en-US" sz="4000" dirty="0"/>
              <a:t>Securing resources / funding </a:t>
            </a:r>
          </a:p>
        </p:txBody>
      </p:sp>
    </p:spTree>
    <p:extLst>
      <p:ext uri="{BB962C8B-B14F-4D97-AF65-F5344CB8AC3E}">
        <p14:creationId xmlns:p14="http://schemas.microsoft.com/office/powerpoint/2010/main" val="77714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CFAAFEC5-E388-2F16-3408-6B4526EEE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536" r="-1" b="402"/>
          <a:stretch/>
        </p:blipFill>
        <p:spPr>
          <a:xfrm>
            <a:off x="352751" y="281290"/>
            <a:ext cx="10814013" cy="56679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9B162A-DC6F-67DB-6D69-35F3370BD662}"/>
              </a:ext>
            </a:extLst>
          </p:cNvPr>
          <p:cNvSpPr txBox="1"/>
          <p:nvPr/>
        </p:nvSpPr>
        <p:spPr>
          <a:xfrm>
            <a:off x="1720166" y="6422509"/>
            <a:ext cx="10183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170" dirty="0">
                <a:hlinkClick r:id="rId3"/>
              </a:rPr>
              <a:t>https://blog.slavovlab.net/2013/09/26/the-best-projects-are-least-obvious</a:t>
            </a:r>
            <a:endParaRPr lang="en-US" b="1" spc="170" dirty="0"/>
          </a:p>
        </p:txBody>
      </p:sp>
    </p:spTree>
    <p:extLst>
      <p:ext uri="{BB962C8B-B14F-4D97-AF65-F5344CB8AC3E}">
        <p14:creationId xmlns:p14="http://schemas.microsoft.com/office/powerpoint/2010/main" val="2659089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4800"/>
              <a:t>Reading and evaluating papers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49214"/>
            <a:ext cx="10168128" cy="4225158"/>
          </a:xfrm>
        </p:spPr>
        <p:txBody>
          <a:bodyPr>
            <a:normAutofit lnSpcReduction="10000"/>
          </a:bodyPr>
          <a:lstStyle/>
          <a:p>
            <a:r>
              <a:rPr lang="en-US" sz="4000"/>
              <a:t>Key claims and supporting evidence</a:t>
            </a:r>
          </a:p>
          <a:p>
            <a:pPr lvl="1"/>
            <a:r>
              <a:rPr lang="en-US" sz="3600"/>
              <a:t>Standards of evidence appraisal </a:t>
            </a:r>
          </a:p>
          <a:p>
            <a:pPr lvl="1"/>
            <a:r>
              <a:rPr lang="en-US" sz="3600"/>
              <a:t>Critical evaluation: </a:t>
            </a:r>
            <a:r>
              <a:rPr lang="en-US" sz="3600" i="1"/>
              <a:t>The earth is flat</a:t>
            </a:r>
            <a:r>
              <a:rPr lang="en-US" sz="3600"/>
              <a:t>  </a:t>
            </a:r>
          </a:p>
          <a:p>
            <a:pPr lvl="0"/>
            <a:r>
              <a:rPr lang="en-US" sz="4000"/>
              <a:t>Importance (subjective)</a:t>
            </a:r>
          </a:p>
          <a:p>
            <a:pPr lvl="1"/>
            <a:r>
              <a:rPr lang="en-US" sz="3600"/>
              <a:t>Background </a:t>
            </a:r>
          </a:p>
          <a:p>
            <a:pPr lvl="0"/>
            <a:r>
              <a:rPr lang="en-US" sz="4000"/>
              <a:t>Communication clarity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9789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4800" dirty="0"/>
              <a:t>Writing papers and proposals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Have a clear message</a:t>
            </a:r>
          </a:p>
          <a:p>
            <a:pPr lvl="1"/>
            <a:r>
              <a:rPr lang="en-US" sz="3600" dirty="0"/>
              <a:t>Conceptual clarity</a:t>
            </a:r>
          </a:p>
          <a:p>
            <a:pPr lvl="0"/>
            <a:r>
              <a:rPr lang="en-US" sz="4000" dirty="0"/>
              <a:t>Framing the questions &amp; conclusions</a:t>
            </a:r>
            <a:r>
              <a:rPr lang="en-US" sz="3600" dirty="0"/>
              <a:t> </a:t>
            </a:r>
          </a:p>
          <a:p>
            <a:pPr lvl="0"/>
            <a:r>
              <a:rPr lang="en-US" sz="4000" dirty="0"/>
              <a:t>Communication clarity</a:t>
            </a:r>
          </a:p>
          <a:p>
            <a:pPr lvl="0"/>
            <a:r>
              <a:rPr lang="en-US" sz="4000" dirty="0"/>
              <a:t>Quantity cannot substitute quality </a:t>
            </a:r>
          </a:p>
        </p:txBody>
      </p:sp>
    </p:spTree>
    <p:extLst>
      <p:ext uri="{BB962C8B-B14F-4D97-AF65-F5344CB8AC3E}">
        <p14:creationId xmlns:p14="http://schemas.microsoft.com/office/powerpoint/2010/main" val="419295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4800" dirty="0"/>
              <a:t>Two steps to making contributions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Get things right </a:t>
            </a:r>
          </a:p>
          <a:p>
            <a:endParaRPr lang="en-US" sz="4000" dirty="0"/>
          </a:p>
          <a:p>
            <a:r>
              <a:rPr lang="en-US" sz="4000" dirty="0"/>
              <a:t>Advancing science &amp; getting credit</a:t>
            </a:r>
          </a:p>
        </p:txBody>
      </p:sp>
    </p:spTree>
    <p:extLst>
      <p:ext uri="{BB962C8B-B14F-4D97-AF65-F5344CB8AC3E}">
        <p14:creationId xmlns:p14="http://schemas.microsoft.com/office/powerpoint/2010/main" val="62806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Advancing science &amp; getting credit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Disclosing your results (priority) </a:t>
            </a:r>
            <a:endParaRPr lang="en-US" sz="3600" dirty="0"/>
          </a:p>
          <a:p>
            <a:pPr lvl="0"/>
            <a:r>
              <a:rPr lang="en-US" sz="4000" dirty="0"/>
              <a:t>Validation </a:t>
            </a:r>
          </a:p>
          <a:p>
            <a:pPr lvl="1"/>
            <a:r>
              <a:rPr lang="en-US" sz="3600" dirty="0"/>
              <a:t>Many ways: </a:t>
            </a:r>
            <a:r>
              <a:rPr lang="en-US" sz="3600" dirty="0">
                <a:hlinkClick r:id="rId3"/>
              </a:rPr>
              <a:t>https://blog.slavovlab.net/ </a:t>
            </a:r>
            <a:r>
              <a:rPr lang="en-US" sz="3600" dirty="0">
                <a:hlinkClick r:id="rId4"/>
              </a:rPr>
              <a:t>2019/03/10/evaluating-preprints/</a:t>
            </a:r>
            <a:r>
              <a:rPr lang="en-US" sz="3600" dirty="0"/>
              <a:t> </a:t>
            </a:r>
          </a:p>
          <a:p>
            <a:pPr lvl="0"/>
            <a:r>
              <a:rPr lang="en-US" sz="4000" dirty="0"/>
              <a:t>Evolving model </a:t>
            </a:r>
          </a:p>
        </p:txBody>
      </p:sp>
    </p:spTree>
    <p:extLst>
      <p:ext uri="{BB962C8B-B14F-4D97-AF65-F5344CB8AC3E}">
        <p14:creationId xmlns:p14="http://schemas.microsoft.com/office/powerpoint/2010/main" val="301316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4800" dirty="0"/>
              <a:t>Publishing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33599"/>
            <a:ext cx="10168128" cy="4391891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/>
              <a:t>Disclosure</a:t>
            </a:r>
          </a:p>
          <a:p>
            <a:r>
              <a:rPr lang="en-US" sz="4000" dirty="0"/>
              <a:t>Validation </a:t>
            </a:r>
          </a:p>
          <a:p>
            <a:r>
              <a:rPr lang="en-US" sz="4000" dirty="0"/>
              <a:t>Attracting attention </a:t>
            </a:r>
          </a:p>
          <a:p>
            <a:pPr lvl="1"/>
            <a:r>
              <a:rPr lang="en-US" sz="3600" dirty="0"/>
              <a:t>High profile journals are not the only way of attracting attention </a:t>
            </a:r>
          </a:p>
          <a:p>
            <a:pPr lvl="1"/>
            <a:r>
              <a:rPr lang="en-US" sz="3600" dirty="0"/>
              <a:t>Promoting research: </a:t>
            </a:r>
            <a:r>
              <a:rPr lang="en-US" sz="3600" dirty="0">
                <a:hlinkClick r:id="rId3"/>
              </a:rPr>
              <a:t>https://blog.slavovlab.net/2020/07/15/promoting-your-research/</a:t>
            </a:r>
            <a:r>
              <a:rPr lang="en-US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744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C3CB-65C4-484D-B844-52BD645D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 &amp; bias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7BDF61-C2E4-8343-BA86-9BB3FE223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08141" y="2260406"/>
            <a:ext cx="5150944" cy="36941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CE1BB6-9A88-2146-B70C-C5506972F4DB}"/>
              </a:ext>
            </a:extLst>
          </p:cNvPr>
          <p:cNvSpPr txBox="1"/>
          <p:nvPr/>
        </p:nvSpPr>
        <p:spPr>
          <a:xfrm>
            <a:off x="1243210" y="6117376"/>
            <a:ext cx="9613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4"/>
              </a:rPr>
              <a:t>https://twitter.com/slavovLab/status/1211007006208712706?s=20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38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5FAB-C4CB-E84E-8E39-31784FA9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3615" y="1174485"/>
            <a:ext cx="7985759" cy="2289534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/>
              <a:t>Scientific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E987F-B609-754B-8688-84EAAAB0D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b="1" spc="300" dirty="0">
                <a:solidFill>
                  <a:schemeClr val="bg1"/>
                </a:solidFill>
              </a:rPr>
              <a:t>Nikolai Slavov</a:t>
            </a:r>
          </a:p>
        </p:txBody>
      </p:sp>
    </p:spTree>
    <p:extLst>
      <p:ext uri="{BB962C8B-B14F-4D97-AF65-F5344CB8AC3E}">
        <p14:creationId xmlns:p14="http://schemas.microsoft.com/office/powerpoint/2010/main" val="2126690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BFA-C9AB-2344-9C32-416626C2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Reading a research paper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EA24-9670-004B-AC6C-BD39C60B6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problem is being addressed? </a:t>
            </a:r>
          </a:p>
          <a:p>
            <a:pPr lvl="1"/>
            <a:r>
              <a:rPr lang="en-US" dirty="0"/>
              <a:t>Why care?  </a:t>
            </a:r>
          </a:p>
          <a:p>
            <a:endParaRPr lang="en-US" dirty="0"/>
          </a:p>
          <a:p>
            <a:r>
              <a:rPr lang="en-US" dirty="0"/>
              <a:t>What are the main results? </a:t>
            </a:r>
          </a:p>
          <a:p>
            <a:pPr lvl="1"/>
            <a:r>
              <a:rPr lang="en-US" dirty="0"/>
              <a:t>So what? </a:t>
            </a:r>
          </a:p>
          <a:p>
            <a:endParaRPr lang="en-US" dirty="0"/>
          </a:p>
          <a:p>
            <a:r>
              <a:rPr lang="en-US" dirty="0"/>
              <a:t>What is the supporting evidence? </a:t>
            </a:r>
          </a:p>
          <a:p>
            <a:pPr lvl="1"/>
            <a:r>
              <a:rPr lang="en-US" dirty="0"/>
              <a:t>What are the caveats? </a:t>
            </a:r>
          </a:p>
          <a:p>
            <a:pPr lvl="1"/>
            <a:r>
              <a:rPr lang="en-US" dirty="0"/>
              <a:t>How direct is the evidence?  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9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BFA-C9AB-2344-9C32-416626C2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Writing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EA24-9670-004B-AC6C-BD39C60B6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your message?</a:t>
            </a:r>
          </a:p>
          <a:p>
            <a:endParaRPr lang="en-US" dirty="0"/>
          </a:p>
          <a:p>
            <a:r>
              <a:rPr lang="en-US" dirty="0"/>
              <a:t>What do your readers need to know to appreciate the message?</a:t>
            </a:r>
          </a:p>
          <a:p>
            <a:endParaRPr lang="en-US" dirty="0"/>
          </a:p>
          <a:p>
            <a:r>
              <a:rPr lang="en-US" dirty="0"/>
              <a:t>What is the best way to structure the information? </a:t>
            </a:r>
          </a:p>
        </p:txBody>
      </p:sp>
    </p:spTree>
    <p:extLst>
      <p:ext uri="{BB962C8B-B14F-4D97-AF65-F5344CB8AC3E}">
        <p14:creationId xmlns:p14="http://schemas.microsoft.com/office/powerpoint/2010/main" val="43755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Principles for writing up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232" y="2614410"/>
            <a:ext cx="10451464" cy="369495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3200" dirty="0"/>
              <a:t>Writing up research is first about thinking, framing and interpretation, and then about writing per say.</a:t>
            </a:r>
          </a:p>
          <a:p>
            <a:pPr lvl="0">
              <a:lnSpc>
                <a:spcPct val="150000"/>
              </a:lnSpc>
            </a:pPr>
            <a:r>
              <a:rPr lang="en-US" sz="3200" dirty="0"/>
              <a:t>Start with </a:t>
            </a:r>
            <a:r>
              <a:rPr lang="en-US" sz="3200" b="1" dirty="0"/>
              <a:t>why</a:t>
            </a:r>
            <a:r>
              <a:rPr lang="en-US" sz="3200" dirty="0"/>
              <a:t>. Then move to </a:t>
            </a:r>
            <a:r>
              <a:rPr lang="en-US" sz="3200" b="1" dirty="0"/>
              <a:t>how</a:t>
            </a:r>
            <a:r>
              <a:rPr lang="en-US" sz="3200" dirty="0"/>
              <a:t> and </a:t>
            </a:r>
            <a:r>
              <a:rPr lang="en-US" sz="3200" b="1" dirty="0"/>
              <a:t>what</a:t>
            </a:r>
            <a:r>
              <a:rPr lang="en-US" sz="3200" dirty="0"/>
              <a:t>.</a:t>
            </a:r>
          </a:p>
          <a:p>
            <a:pPr lvl="0">
              <a:lnSpc>
                <a:spcPct val="100000"/>
              </a:lnSpc>
            </a:pPr>
            <a:r>
              <a:rPr lang="en-US" sz="3200" dirty="0"/>
              <a:t>Make the most general statements supported by the results. Try to negate each statement until you cannot.</a:t>
            </a:r>
          </a:p>
          <a:p>
            <a:pPr lvl="0"/>
            <a:endParaRPr lang="en-US" sz="3200" dirty="0"/>
          </a:p>
          <a:p>
            <a:pPr lvl="0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85326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2C97A-5264-564D-97ED-08A6D3DF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  <a:r>
              <a:rPr lang="en-US" sz="3200" dirty="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2FF6-A561-37E8-AC62-474133539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683" y="2252870"/>
            <a:ext cx="6337737" cy="3560251"/>
          </a:xfrm>
        </p:spPr>
        <p:txBody>
          <a:bodyPr>
            <a:normAutofit/>
          </a:bodyPr>
          <a:lstStyle/>
          <a:p>
            <a:r>
              <a:rPr lang="en-US" sz="3200" dirty="0"/>
              <a:t>Primary function</a:t>
            </a:r>
          </a:p>
          <a:p>
            <a:endParaRPr lang="en-US" sz="3200" dirty="0"/>
          </a:p>
          <a:p>
            <a:r>
              <a:rPr lang="en-US" sz="3200" dirty="0"/>
              <a:t>Secondary function </a:t>
            </a:r>
          </a:p>
          <a:p>
            <a:endParaRPr lang="en-US" sz="3200" dirty="0"/>
          </a:p>
          <a:p>
            <a:r>
              <a:rPr lang="en-US" sz="3200" dirty="0"/>
              <a:t>Is self-citation ever acceptable ? </a:t>
            </a:r>
          </a:p>
        </p:txBody>
      </p:sp>
      <p:pic>
        <p:nvPicPr>
          <p:cNvPr id="7" name="Graphic 6" descr="Closed Quotation Mark">
            <a:extLst>
              <a:ext uri="{FF2B5EF4-FFF2-40B4-BE49-F238E27FC236}">
                <a16:creationId xmlns:a16="http://schemas.microsoft.com/office/drawing/2014/main" id="{7651A4B4-CBEB-AED1-004E-224999FDE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85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1A13-62F6-7C9B-E02A-1DD2ABBE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A44B938-D8F0-6F0C-EDC2-A887AE556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852" b="7177"/>
          <a:stretch/>
        </p:blipFill>
        <p:spPr>
          <a:xfrm>
            <a:off x="908304" y="130381"/>
            <a:ext cx="10158808" cy="28803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51A0C-AFDC-33A9-74D4-5E722CBAC725}"/>
              </a:ext>
            </a:extLst>
          </p:cNvPr>
          <p:cNvSpPr txBox="1"/>
          <p:nvPr/>
        </p:nvSpPr>
        <p:spPr>
          <a:xfrm>
            <a:off x="146987" y="3689605"/>
            <a:ext cx="4929509" cy="2802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62626"/>
                </a:solidFill>
                <a:latin typeface="Open Sans" panose="020B0606030504020204" pitchFamily="34" charset="0"/>
              </a:rPr>
              <a:t>T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he index </a:t>
            </a:r>
            <a:r>
              <a:rPr lang="en-US" sz="2400" b="0" i="1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h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, defined as the number of papers with citation number ≥</a:t>
            </a:r>
            <a:r>
              <a:rPr lang="en-US" sz="2400" b="0" i="1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h</a:t>
            </a:r>
            <a:r>
              <a:rPr lang="en-U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, as a useful index to characterize the scientific output of a researcher.</a:t>
            </a:r>
            <a:endParaRPr lang="en-US" sz="2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B9F6B3-D5F0-F32B-48E7-E5733F488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712" y="3298619"/>
            <a:ext cx="47244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742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B5F8A-C444-B49E-7DD3-1A3FDD35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Ethics, plagiarism &amp; chatbots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4C863-9B97-270C-D229-A31362EBB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445835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0523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A693B2-C584-9844-95B6-0EAE35C40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95" y="0"/>
            <a:ext cx="1046260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98690C-DBED-0643-9F5F-0A9C36663AAB}"/>
              </a:ext>
            </a:extLst>
          </p:cNvPr>
          <p:cNvSpPr/>
          <p:nvPr/>
        </p:nvSpPr>
        <p:spPr>
          <a:xfrm>
            <a:off x="5665076" y="1076486"/>
            <a:ext cx="65269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https://</a:t>
            </a:r>
            <a:r>
              <a:rPr lang="en-US" sz="1600" dirty="0" err="1">
                <a:solidFill>
                  <a:srgbClr val="FF0000"/>
                </a:solidFill>
              </a:rPr>
              <a:t>www.nature.com</a:t>
            </a:r>
            <a:r>
              <a:rPr lang="en-US" sz="1600" dirty="0">
                <a:solidFill>
                  <a:srgbClr val="FF0000"/>
                </a:solidFill>
              </a:rPr>
              <a:t>/documents/nature-summary-</a:t>
            </a:r>
            <a:r>
              <a:rPr lang="en-US" sz="1600" dirty="0" err="1">
                <a:solidFill>
                  <a:srgbClr val="FF0000"/>
                </a:solidFill>
              </a:rPr>
              <a:t>paragraph.pdf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3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3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9" name="Rectangle 29">
            <a:extLst>
              <a:ext uri="{FF2B5EF4-FFF2-40B4-BE49-F238E27FC236}">
                <a16:creationId xmlns:a16="http://schemas.microsoft.com/office/drawing/2014/main" id="{B5416EBC-B41E-4F8A-BE9F-07301B682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1">
            <a:extLst>
              <a:ext uri="{FF2B5EF4-FFF2-40B4-BE49-F238E27FC236}">
                <a16:creationId xmlns:a16="http://schemas.microsoft.com/office/drawing/2014/main" id="{AFF79527-C7F1-4E06-8126-A8E8C5FE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09522-68D6-E2B1-EB91-0919E78F9FCD}"/>
              </a:ext>
            </a:extLst>
          </p:cNvPr>
          <p:cNvSpPr txBox="1"/>
          <p:nvPr/>
        </p:nvSpPr>
        <p:spPr>
          <a:xfrm>
            <a:off x="868680" y="1719072"/>
            <a:ext cx="3103427" cy="3520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Writing tips</a:t>
            </a:r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55986208-8A53-4E92-9197-6B57BCCB2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14CC023-F814-1975-0E0C-4D2D4CCA0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674322"/>
              </p:ext>
            </p:extLst>
          </p:nvPr>
        </p:nvGraphicFramePr>
        <p:xfrm>
          <a:off x="4727448" y="640080"/>
          <a:ext cx="6967728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731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D726148-8FA9-BB2C-4EE3-B854DF5F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99"/>
          <a:stretch/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120AE0-2BDA-2EB8-B139-5A7C763AEE19}"/>
              </a:ext>
            </a:extLst>
          </p:cNvPr>
          <p:cNvSpPr txBox="1"/>
          <p:nvPr/>
        </p:nvSpPr>
        <p:spPr>
          <a:xfrm>
            <a:off x="583656" y="6358764"/>
            <a:ext cx="11531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linkClick r:id="rId3"/>
              </a:rPr>
              <a:t>https://blog.slavovlab.net/2024/02/12/communicating-writing-up-research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768074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RightStep">
      <a:dk1>
        <a:srgbClr val="000000"/>
      </a:dk1>
      <a:lt1>
        <a:srgbClr val="FFFFFF"/>
      </a:lt1>
      <a:dk2>
        <a:srgbClr val="24413D"/>
      </a:dk2>
      <a:lt2>
        <a:srgbClr val="E9EEED"/>
      </a:lt2>
      <a:accent1>
        <a:srgbClr val="C74852"/>
      </a:accent1>
      <a:accent2>
        <a:srgbClr val="B66137"/>
      </a:accent2>
      <a:accent3>
        <a:srgbClr val="BEA045"/>
      </a:accent3>
      <a:accent4>
        <a:srgbClr val="99AD34"/>
      </a:accent4>
      <a:accent5>
        <a:srgbClr val="71B441"/>
      </a:accent5>
      <a:accent6>
        <a:srgbClr val="37B637"/>
      </a:accent6>
      <a:hlink>
        <a:srgbClr val="9A72D0"/>
      </a:hlink>
      <a:folHlink>
        <a:srgbClr val="878787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632</Words>
  <Application>Microsoft Macintosh PowerPoint</Application>
  <PresentationFormat>Widescreen</PresentationFormat>
  <Paragraphs>121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Avenir Next LT Pro</vt:lpstr>
      <vt:lpstr>Calibri</vt:lpstr>
      <vt:lpstr>Open Sans</vt:lpstr>
      <vt:lpstr>Wingdings</vt:lpstr>
      <vt:lpstr>AccentBoxVTI</vt:lpstr>
      <vt:lpstr>Method and Logic in Systems Biology and Bioengineering</vt:lpstr>
      <vt:lpstr>Introduction</vt:lpstr>
      <vt:lpstr>Goals</vt:lpstr>
      <vt:lpstr>Syllabus  &amp; classes</vt:lpstr>
      <vt:lpstr>Logistics </vt:lpstr>
      <vt:lpstr>Grading</vt:lpstr>
      <vt:lpstr>Research ecosystem, trends &amp; challenges</vt:lpstr>
      <vt:lpstr>Research within &amp; outside of academia</vt:lpstr>
      <vt:lpstr>PowerPoint Presentation</vt:lpstr>
      <vt:lpstr>Reading and evaluating papers</vt:lpstr>
      <vt:lpstr>Writing papers and proposals </vt:lpstr>
      <vt:lpstr>Two steps to making contributions </vt:lpstr>
      <vt:lpstr>Advancing science &amp; getting credit</vt:lpstr>
      <vt:lpstr>Publishing</vt:lpstr>
      <vt:lpstr>Experimental design &amp; bias </vt:lpstr>
      <vt:lpstr>Scientific communication</vt:lpstr>
      <vt:lpstr>Reading a research paper </vt:lpstr>
      <vt:lpstr>Writing </vt:lpstr>
      <vt:lpstr>Principles for writing up research</vt:lpstr>
      <vt:lpstr>References </vt:lpstr>
      <vt:lpstr>PowerPoint Presentation</vt:lpstr>
      <vt:lpstr>Ethics, plagiarism &amp; chatbots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Bioengineering</dc:title>
  <dc:creator>Slavov, Nikolai</dc:creator>
  <cp:lastModifiedBy>Slavov, Nikolai</cp:lastModifiedBy>
  <cp:revision>23</cp:revision>
  <dcterms:created xsi:type="dcterms:W3CDTF">2020-01-09T13:26:11Z</dcterms:created>
  <dcterms:modified xsi:type="dcterms:W3CDTF">2026-01-08T18:14:33Z</dcterms:modified>
</cp:coreProperties>
</file>