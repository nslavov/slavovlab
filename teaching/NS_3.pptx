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0" r:id="rId1"/>
  </p:sldMasterIdLst>
  <p:notesMasterIdLst>
    <p:notesMasterId r:id="rId25"/>
  </p:notesMasterIdLst>
  <p:sldIdLst>
    <p:sldId id="256" r:id="rId2"/>
    <p:sldId id="297" r:id="rId3"/>
    <p:sldId id="298" r:id="rId4"/>
    <p:sldId id="299" r:id="rId5"/>
    <p:sldId id="306" r:id="rId6"/>
    <p:sldId id="307" r:id="rId7"/>
    <p:sldId id="300" r:id="rId8"/>
    <p:sldId id="302" r:id="rId9"/>
    <p:sldId id="301" r:id="rId10"/>
    <p:sldId id="304" r:id="rId11"/>
    <p:sldId id="305" r:id="rId12"/>
    <p:sldId id="303" r:id="rId13"/>
    <p:sldId id="308" r:id="rId14"/>
    <p:sldId id="257" r:id="rId15"/>
    <p:sldId id="258" r:id="rId16"/>
    <p:sldId id="309" r:id="rId17"/>
    <p:sldId id="310" r:id="rId18"/>
    <p:sldId id="311" r:id="rId19"/>
    <p:sldId id="312" r:id="rId20"/>
    <p:sldId id="313" r:id="rId21"/>
    <p:sldId id="317" r:id="rId22"/>
    <p:sldId id="316" r:id="rId23"/>
    <p:sldId id="31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70"/>
    <p:restoredTop sz="94694"/>
  </p:normalViewPr>
  <p:slideViewPr>
    <p:cSldViewPr snapToGrid="0" snapToObjects="1">
      <p:cViewPr varScale="1">
        <p:scale>
          <a:sx n="99" d="100"/>
          <a:sy n="99" d="100"/>
        </p:scale>
        <p:origin x="208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9A27D3-0CC7-934B-85C6-96FBF84258AF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25597C-1557-0B42-95FD-84BAB43A25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581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26880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170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870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395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76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09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1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1/13/26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378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20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82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73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111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9" r:id="rId6"/>
    <p:sldLayoutId id="2147483744" r:id="rId7"/>
    <p:sldLayoutId id="2147483745" r:id="rId8"/>
    <p:sldLayoutId id="2147483746" r:id="rId9"/>
    <p:sldLayoutId id="2147483748" r:id="rId10"/>
    <p:sldLayoutId id="21474837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.bionumbers.org/which-is-bigger-mrna-or-the-protein-it-codes-fo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2FB82883-1DC0-4BE1-A607-009095F33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0">
            <a:extLst>
              <a:ext uri="{FF2B5EF4-FFF2-40B4-BE49-F238E27FC236}">
                <a16:creationId xmlns:a16="http://schemas.microsoft.com/office/drawing/2014/main" id="{A3473CF9-37EB-43E7-89EF-D2D1C53D1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615" y="4638503"/>
            <a:ext cx="8384770" cy="1332634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075FAB-C4CB-E84E-8E39-31784FA9A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3889" y="2219497"/>
            <a:ext cx="8815486" cy="868823"/>
          </a:xfrm>
        </p:spPr>
        <p:txBody>
          <a:bodyPr anchor="ctr">
            <a:noAutofit/>
          </a:bodyPr>
          <a:lstStyle/>
          <a:p>
            <a:pPr algn="ctr"/>
            <a:r>
              <a:rPr lang="en-US" sz="7200" dirty="0"/>
              <a:t>Quantitative Biology</a:t>
            </a:r>
          </a:p>
        </p:txBody>
      </p:sp>
      <p:sp>
        <p:nvSpPr>
          <p:cNvPr id="18" name="Rectangle: Rounded Corners 12">
            <a:extLst>
              <a:ext uri="{FF2B5EF4-FFF2-40B4-BE49-F238E27FC236}">
                <a16:creationId xmlns:a16="http://schemas.microsoft.com/office/drawing/2014/main" id="{586B4EF9-43BA-4655-A6FF-1D8E21574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3110" y="5628237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AE987F-B609-754B-8688-84EAAAB0D4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15738" y="5680637"/>
            <a:ext cx="6960524" cy="598516"/>
          </a:xfrm>
        </p:spPr>
        <p:txBody>
          <a:bodyPr anchor="ctr">
            <a:normAutofit/>
          </a:bodyPr>
          <a:lstStyle/>
          <a:p>
            <a:pPr algn="ctr"/>
            <a:r>
              <a:rPr lang="en-US" sz="2400" b="1" spc="300" dirty="0">
                <a:solidFill>
                  <a:schemeClr val="bg1"/>
                </a:solidFill>
              </a:rPr>
              <a:t>Nikolai Slavov</a:t>
            </a:r>
          </a:p>
        </p:txBody>
      </p:sp>
    </p:spTree>
    <p:extLst>
      <p:ext uri="{BB962C8B-B14F-4D97-AF65-F5344CB8AC3E}">
        <p14:creationId xmlns:p14="http://schemas.microsoft.com/office/powerpoint/2010/main" val="682725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D9D10-1D0C-5257-C266-668C642CD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dirty="0"/>
              <a:t>A sense of scale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5F990-0F53-C4B5-6ACC-81F7647F7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4400" dirty="0"/>
              <a:t>What is larger ?</a:t>
            </a:r>
          </a:p>
          <a:p>
            <a:pPr lvl="1"/>
            <a:r>
              <a:rPr lang="en-US" sz="4000" dirty="0"/>
              <a:t> </a:t>
            </a:r>
            <a:r>
              <a:rPr lang="en-US" sz="3200" dirty="0"/>
              <a:t>A protein molecule or its mRNA template?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46263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2AA5E6-C0D2-FE73-6524-20B6FF259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Cell biology by the numbers 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103104-488D-5403-0216-3236AA5F5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64608" y="1034169"/>
            <a:ext cx="6846363" cy="4638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0D0B25-4F8E-6D6D-3EE5-F347DCD553C6}"/>
              </a:ext>
            </a:extLst>
          </p:cNvPr>
          <p:cNvSpPr txBox="1"/>
          <p:nvPr/>
        </p:nvSpPr>
        <p:spPr>
          <a:xfrm>
            <a:off x="475326" y="6271143"/>
            <a:ext cx="112413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linkClick r:id="rId3"/>
              </a:rPr>
              <a:t>https://book.bionumbers.org/which-is-bigger-mrna-or-the-protein-it-codes-for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2330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A64E8-D7C7-7E85-6E54-7481359D1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our next article </a:t>
            </a:r>
          </a:p>
        </p:txBody>
      </p:sp>
      <p:pic>
        <p:nvPicPr>
          <p:cNvPr id="5" name="Picture 4" descr="A close-up of a sign&#10;&#10;Description automatically generated">
            <a:extLst>
              <a:ext uri="{FF2B5EF4-FFF2-40B4-BE49-F238E27FC236}">
                <a16:creationId xmlns:a16="http://schemas.microsoft.com/office/drawing/2014/main" id="{45366085-97B4-5907-73E4-A3036A6726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79" y="3178311"/>
            <a:ext cx="11379492" cy="235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246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26B7-AD04-FFDC-7190-A175619E9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synthesis &amp; degradation rates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0906D1-6E69-0E8D-E211-EDB9BE8167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13800" b="1" dirty="0"/>
              <a:t>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68775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834BA-4F9F-11C6-39F7-65F71DCED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716" y="2304210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Measure protein synthesis and degradation</a:t>
            </a:r>
          </a:p>
        </p:txBody>
      </p:sp>
      <p:pic>
        <p:nvPicPr>
          <p:cNvPr id="5" name="Content Placeholder 4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B25CE4FD-FC8F-9A26-7F81-7C3846534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4356" y="1198403"/>
            <a:ext cx="6408836" cy="430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6326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61" name="Freeform: Shape 206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63" name="Freeform: Shape 206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6AC398-B059-EAAD-BF79-3508C3959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Mass spectrometry proteomics</a:t>
            </a:r>
          </a:p>
        </p:txBody>
      </p:sp>
      <p:sp>
        <p:nvSpPr>
          <p:cNvPr id="2065" name="Rectangle 206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4BBA322-092C-9BC7-0D78-23533B55C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68686" y="1244866"/>
            <a:ext cx="6554506" cy="431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2924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828FC9-5F15-4178-2731-F3E4E3622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Isotopic envelopes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diagram of a pattern of a pattern&#10;&#10;Description automatically generated with medium confidence">
            <a:extLst>
              <a:ext uri="{FF2B5EF4-FFF2-40B4-BE49-F238E27FC236}">
                <a16:creationId xmlns:a16="http://schemas.microsoft.com/office/drawing/2014/main" id="{44B4EF08-2B82-1DAE-6745-69FDFC5C4A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4356" y="1062216"/>
            <a:ext cx="6408836" cy="458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369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47C700-FE18-A6E1-54CC-A25B91954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Isotopic envelopes</a:t>
            </a:r>
            <a:br>
              <a:rPr lang="en-US" sz="4800" dirty="0"/>
            </a:br>
            <a:br>
              <a:rPr lang="en-US" sz="4800" dirty="0"/>
            </a:br>
            <a:r>
              <a:rPr lang="en-US" sz="3200" b="1" dirty="0"/>
              <a:t>Examples</a:t>
            </a:r>
            <a:endParaRPr lang="en-US" sz="48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table of chemical formulas&#10;&#10;Description automatically generated">
            <a:extLst>
              <a:ext uri="{FF2B5EF4-FFF2-40B4-BE49-F238E27FC236}">
                <a16:creationId xmlns:a16="http://schemas.microsoft.com/office/drawing/2014/main" id="{86DC10D7-F401-F621-B7FE-0850DC89A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5128" y="1531088"/>
            <a:ext cx="6548064" cy="356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700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5A1B58-6048-CA06-FC7E-ED1EF5C88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﻿Identifying peptides by tandem MS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707EE9-BA3D-9C52-10B9-447365BE2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2514" y="625683"/>
            <a:ext cx="6270551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711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B834BA-4F9F-11C6-39F7-65F71DCED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Measure protein synthesis and degradation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graph of a diagram&#10;&#10;Description automatically generated with medium confidence">
            <a:extLst>
              <a:ext uri="{FF2B5EF4-FFF2-40B4-BE49-F238E27FC236}">
                <a16:creationId xmlns:a16="http://schemas.microsoft.com/office/drawing/2014/main" id="{B25CE4FD-FC8F-9A26-7F81-7C38465345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14356" y="1198403"/>
            <a:ext cx="6408836" cy="430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44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A309B7-B651-C471-5D2D-59E7FA7E3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340762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Quantification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diagram of a diagram of different colored shapes&#10;&#10;Description automatically generated">
            <a:extLst>
              <a:ext uri="{FF2B5EF4-FFF2-40B4-BE49-F238E27FC236}">
                <a16:creationId xmlns:a16="http://schemas.microsoft.com/office/drawing/2014/main" id="{AA3A2290-1136-DA90-C182-69BBC5B08E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94649" y="252110"/>
            <a:ext cx="3328208" cy="6494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377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Global Quantification of Mammalian Gene Expression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Schwanhäusser et al., Nature 2011</a:t>
            </a:r>
          </a:p>
          <a:p>
            <a:r>
              <a:t>Journal Club – Critical Discussion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Fundamental questions ?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• </a:t>
            </a:r>
            <a:r>
              <a:rPr lang="en-US" dirty="0"/>
              <a:t>Practical questions ?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" name="Freeform: Shape 29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2" name="Freeform: Shape 31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 sz="2800"/>
            </a:pPr>
            <a:r>
              <a:rPr lang="en-US" sz="4800"/>
              <a:t>Figure 1 – Experimental design &amp; datasets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 descr="A diagram of a dna sequence&#10;&#10;AI-generated content may be incorrect.">
            <a:extLst>
              <a:ext uri="{FF2B5EF4-FFF2-40B4-BE49-F238E27FC236}">
                <a16:creationId xmlns:a16="http://schemas.microsoft.com/office/drawing/2014/main" id="{12327BDA-DA84-8935-4588-4FC09A1EE4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8094"/>
          <a:stretch>
            <a:fillRect/>
          </a:stretch>
        </p:blipFill>
        <p:spPr>
          <a:xfrm>
            <a:off x="5658340" y="330038"/>
            <a:ext cx="6241739" cy="57510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9735C-889E-574C-8C11-14A7DC04D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5B5DED-89A2-0B84-7C32-A863A1326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 sz="2800"/>
            </a:pPr>
            <a:r>
              <a:rPr lang="en-US" sz="4800" dirty="0"/>
              <a:t>Figure 1 – Metabolic pulse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diagram of a graph&#10;&#10;AI-generated content may be incorrect.">
            <a:extLst>
              <a:ext uri="{FF2B5EF4-FFF2-40B4-BE49-F238E27FC236}">
                <a16:creationId xmlns:a16="http://schemas.microsoft.com/office/drawing/2014/main" id="{E8027157-6B26-863D-F2BD-03690C9CA4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70" r="4976" b="1"/>
          <a:stretch>
            <a:fillRect/>
          </a:stretch>
        </p:blipFill>
        <p:spPr>
          <a:xfrm>
            <a:off x="5327327" y="625683"/>
            <a:ext cx="5920924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895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1258FA-C59F-697F-FF44-570E59CCC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A46653-345E-6D31-52E0-F593A2DD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 sz="2800"/>
            </a:pPr>
            <a:r>
              <a:rPr lang="en-US" sz="4800" dirty="0"/>
              <a:t>Figure 2 – mRNA and protein levels and half-lives.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group of graphs showing different types of cells&#10;&#10;AI-generated content may be incorrect.">
            <a:extLst>
              <a:ext uri="{FF2B5EF4-FFF2-40B4-BE49-F238E27FC236}">
                <a16:creationId xmlns:a16="http://schemas.microsoft.com/office/drawing/2014/main" id="{1BAB8FF1-B12A-61C8-B149-DACBEF8F0B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475" y="799153"/>
            <a:ext cx="6743199" cy="525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592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9CD8CA-62F6-580A-1F0F-4F7499D21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7D831B-9BB4-9CD9-E213-977CF38E2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>
              <a:defRPr sz="2800"/>
            </a:pPr>
            <a:r>
              <a:rPr lang="en-US" sz="4800" dirty="0"/>
              <a:t>Figure 3 –﻿ Quantitative model of gene expression in growing cells.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ollage of graphs and diagrams&#10;&#10;AI-generated content may be incorrect.">
            <a:extLst>
              <a:ext uri="{FF2B5EF4-FFF2-40B4-BE49-F238E27FC236}">
                <a16:creationId xmlns:a16="http://schemas.microsoft.com/office/drawing/2014/main" id="{CAAD1876-3926-E0BB-2A99-49222522D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390" y="625683"/>
            <a:ext cx="6306798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616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5FBB51-A433-29F1-D8AE-70098629A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3B8511-8D17-F86D-D93F-496D509F7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1071165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800"/>
            </a:pPr>
            <a:r>
              <a:rPr lang="en-US" sz="3200" dirty="0"/>
              <a:t>Figure 4 – ﻿Impact of different rates and rate constants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diagram of a black and red dotted diagram&#10;&#10;AI-generated content may be incorrect.">
            <a:extLst>
              <a:ext uri="{FF2B5EF4-FFF2-40B4-BE49-F238E27FC236}">
                <a16:creationId xmlns:a16="http://schemas.microsoft.com/office/drawing/2014/main" id="{11CEAA51-168B-EA42-CBA3-BB76B314A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600" y="2091095"/>
            <a:ext cx="9614265" cy="420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0320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8695ED-7E1B-4367-7FE5-0AD8F1EF0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2AD849-5E43-1BBC-A390-887F3A4FF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defRPr sz="2800"/>
            </a:pPr>
            <a:r>
              <a:rPr lang="en-US" sz="4800" dirty="0"/>
              <a:t>Figure 5 – Functional enrichment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graph of a cell cycle&#10;&#10;AI-generated content may be incorrect.">
            <a:extLst>
              <a:ext uri="{FF2B5EF4-FFF2-40B4-BE49-F238E27FC236}">
                <a16:creationId xmlns:a16="http://schemas.microsoft.com/office/drawing/2014/main" id="{850A8AA0-DF5B-8DA0-B10B-B5DB6942B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835" y="625683"/>
            <a:ext cx="5359909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874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D42B05-58AB-6002-70CF-96E901792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C4E306-BC28-4A7B-871B-1926F6FA6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C3ECC9B4-989C-4F71-A6BC-DEBC1D9FD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452322" cy="6858000"/>
          </a:xfrm>
          <a:custGeom>
            <a:avLst/>
            <a:gdLst>
              <a:gd name="connsiteX0" fmla="*/ 0 w 8452322"/>
              <a:gd name="connsiteY0" fmla="*/ 0 h 6858000"/>
              <a:gd name="connsiteX1" fmla="*/ 7447992 w 8452322"/>
              <a:gd name="connsiteY1" fmla="*/ 0 h 6858000"/>
              <a:gd name="connsiteX2" fmla="*/ 7501089 w 8452322"/>
              <a:gd name="connsiteY2" fmla="*/ 79009 h 6858000"/>
              <a:gd name="connsiteX3" fmla="*/ 8452322 w 8452322"/>
              <a:gd name="connsiteY3" fmla="*/ 3429001 h 6858000"/>
              <a:gd name="connsiteX4" fmla="*/ 7501089 w 8452322"/>
              <a:gd name="connsiteY4" fmla="*/ 6778993 h 6858000"/>
              <a:gd name="connsiteX5" fmla="*/ 7447994 w 8452322"/>
              <a:gd name="connsiteY5" fmla="*/ 6858000 h 6858000"/>
              <a:gd name="connsiteX6" fmla="*/ 0 w 845232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52322" h="6858000">
                <a:moveTo>
                  <a:pt x="0" y="0"/>
                </a:moveTo>
                <a:lnTo>
                  <a:pt x="7447992" y="0"/>
                </a:lnTo>
                <a:lnTo>
                  <a:pt x="7501089" y="79009"/>
                </a:lnTo>
                <a:cubicBezTo>
                  <a:pt x="8098524" y="1013167"/>
                  <a:pt x="8452322" y="2172770"/>
                  <a:pt x="8452322" y="3429001"/>
                </a:cubicBezTo>
                <a:cubicBezTo>
                  <a:pt x="8452322" y="4685233"/>
                  <a:pt x="8098524" y="5844836"/>
                  <a:pt x="7501089" y="6778993"/>
                </a:cubicBezTo>
                <a:lnTo>
                  <a:pt x="744799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7948E8DE-A931-4EF0-BE1D-F10274740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443572" cy="6858000"/>
          </a:xfrm>
          <a:custGeom>
            <a:avLst/>
            <a:gdLst>
              <a:gd name="connsiteX0" fmla="*/ 0 w 8443572"/>
              <a:gd name="connsiteY0" fmla="*/ 0 h 6858000"/>
              <a:gd name="connsiteX1" fmla="*/ 7439242 w 8443572"/>
              <a:gd name="connsiteY1" fmla="*/ 0 h 6858000"/>
              <a:gd name="connsiteX2" fmla="*/ 7492339 w 8443572"/>
              <a:gd name="connsiteY2" fmla="*/ 79009 h 6858000"/>
              <a:gd name="connsiteX3" fmla="*/ 8443572 w 8443572"/>
              <a:gd name="connsiteY3" fmla="*/ 3429001 h 6858000"/>
              <a:gd name="connsiteX4" fmla="*/ 7492339 w 8443572"/>
              <a:gd name="connsiteY4" fmla="*/ 6778993 h 6858000"/>
              <a:gd name="connsiteX5" fmla="*/ 7439244 w 8443572"/>
              <a:gd name="connsiteY5" fmla="*/ 6858000 h 6858000"/>
              <a:gd name="connsiteX6" fmla="*/ 0 w 844357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43572" h="6858000">
                <a:moveTo>
                  <a:pt x="0" y="0"/>
                </a:moveTo>
                <a:lnTo>
                  <a:pt x="7439242" y="0"/>
                </a:lnTo>
                <a:lnTo>
                  <a:pt x="7492339" y="79009"/>
                </a:lnTo>
                <a:cubicBezTo>
                  <a:pt x="8089774" y="1013167"/>
                  <a:pt x="8443572" y="2172770"/>
                  <a:pt x="8443572" y="3429001"/>
                </a:cubicBezTo>
                <a:cubicBezTo>
                  <a:pt x="8443572" y="4685233"/>
                  <a:pt x="8089774" y="5844836"/>
                  <a:pt x="7492339" y="6778993"/>
                </a:cubicBezTo>
                <a:lnTo>
                  <a:pt x="7439244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8871BD-6F52-4CE9-15B8-31996D21B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893" y="1238250"/>
            <a:ext cx="7003107" cy="43815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800"/>
            </a:pPr>
            <a:r>
              <a:rPr lang="en-US" sz="7200" dirty="0"/>
              <a:t>Discussion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E4BB4F-99AB-4C4E-A763-C5AC5273DF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827916"/>
            <a:ext cx="128016" cy="1188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71892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EE94D8D-BC47-413E-91AB-A2FCCE172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A2F8CA-2FA1-00B7-9957-945302D7F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71749"/>
            <a:ext cx="10515600" cy="10920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2500" dirty="0"/>
              <a:t>https://</a:t>
            </a:r>
            <a:r>
              <a:rPr lang="en-US" sz="2500" dirty="0" err="1"/>
              <a:t>www.biorxiv.org</a:t>
            </a:r>
            <a:r>
              <a:rPr lang="en-US" sz="2500" dirty="0"/>
              <a:t>/content/10.1101/2025.02.10.637566v3.full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84A8429-F65A-490D-96E4-1158D3E8A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41771"/>
            <a:ext cx="10515599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screenshot of a cell growth test&#10;&#10;AI-generated content may be incorrect.">
            <a:extLst>
              <a:ext uri="{FF2B5EF4-FFF2-40B4-BE49-F238E27FC236}">
                <a16:creationId xmlns:a16="http://schemas.microsoft.com/office/drawing/2014/main" id="{6AE22C06-8057-11EA-8D54-A535BC4A4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872658"/>
            <a:ext cx="10515599" cy="270776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F022291-A82B-4D23-A1E0-5F9BD6846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41136" y="5905709"/>
            <a:ext cx="109728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4433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AE2F8-B212-B5FE-B2E5-D3F7239D9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83E63-E3D6-0C38-669F-3901C24F7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604" y="147997"/>
            <a:ext cx="10711658" cy="88201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 sz="2800"/>
            </a:pPr>
            <a:r>
              <a:rPr lang="en-US" sz="4400" dirty="0"/>
              <a:t>Growth rate dependance </a:t>
            </a:r>
          </a:p>
        </p:txBody>
      </p:sp>
      <p:pic>
        <p:nvPicPr>
          <p:cNvPr id="3" name="Picture 2" descr="A diagram of a cell growth&#10;&#10;AI-generated content may be incorrect.">
            <a:extLst>
              <a:ext uri="{FF2B5EF4-FFF2-40B4-BE49-F238E27FC236}">
                <a16:creationId xmlns:a16="http://schemas.microsoft.com/office/drawing/2014/main" id="{948178EE-BE4F-0EF1-D2A3-C95600937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518" y="1050182"/>
            <a:ext cx="9202963" cy="565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06104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DarkSeedRightStep">
      <a:dk1>
        <a:srgbClr val="000000"/>
      </a:dk1>
      <a:lt1>
        <a:srgbClr val="FFFFFF"/>
      </a:lt1>
      <a:dk2>
        <a:srgbClr val="24413D"/>
      </a:dk2>
      <a:lt2>
        <a:srgbClr val="E9EEED"/>
      </a:lt2>
      <a:accent1>
        <a:srgbClr val="C74852"/>
      </a:accent1>
      <a:accent2>
        <a:srgbClr val="B66137"/>
      </a:accent2>
      <a:accent3>
        <a:srgbClr val="BEA045"/>
      </a:accent3>
      <a:accent4>
        <a:srgbClr val="99AD34"/>
      </a:accent4>
      <a:accent5>
        <a:srgbClr val="71B441"/>
      </a:accent5>
      <a:accent6>
        <a:srgbClr val="37B637"/>
      </a:accent6>
      <a:hlink>
        <a:srgbClr val="9A72D0"/>
      </a:hlink>
      <a:folHlink>
        <a:srgbClr val="878787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9693</TotalTime>
  <Words>166</Words>
  <Application>Microsoft Macintosh PowerPoint</Application>
  <PresentationFormat>Widescreen</PresentationFormat>
  <Paragraphs>35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Avenir Next LT Pro</vt:lpstr>
      <vt:lpstr>Calibri</vt:lpstr>
      <vt:lpstr>AccentBoxVTI</vt:lpstr>
      <vt:lpstr>Quantitative Biology</vt:lpstr>
      <vt:lpstr>A sense of scale</vt:lpstr>
      <vt:lpstr>Cell biology by the numbers </vt:lpstr>
      <vt:lpstr>Introduction to our next article </vt:lpstr>
      <vt:lpstr>Measuring synthesis &amp; degradation rates   </vt:lpstr>
      <vt:lpstr>Measure protein synthesis and degradation</vt:lpstr>
      <vt:lpstr>Mass spectrometry proteomics</vt:lpstr>
      <vt:lpstr>Isotopic envelopes</vt:lpstr>
      <vt:lpstr>Isotopic envelopes  Examples</vt:lpstr>
      <vt:lpstr>Identifying peptides by tandem MS</vt:lpstr>
      <vt:lpstr>Measure protein synthesis and degradation</vt:lpstr>
      <vt:lpstr>Quantification</vt:lpstr>
      <vt:lpstr>Global Quantification of Mammalian Gene Expression Control</vt:lpstr>
      <vt:lpstr>Motivation</vt:lpstr>
      <vt:lpstr>Figure 1 – Experimental design &amp; datasets</vt:lpstr>
      <vt:lpstr>Figure 1 – Metabolic pulse</vt:lpstr>
      <vt:lpstr>Figure 2 – mRNA and protein levels and half-lives.</vt:lpstr>
      <vt:lpstr>Figure 3 –﻿ Quantitative model of gene expression in growing cells.</vt:lpstr>
      <vt:lpstr>Figure 4 – ﻿Impact of different rates and rate constants </vt:lpstr>
      <vt:lpstr>Figure 5 – Functional enrichment</vt:lpstr>
      <vt:lpstr>Discussion</vt:lpstr>
      <vt:lpstr>https://www.biorxiv.org/content/10.1101/2025.02.10.637566v3.full</vt:lpstr>
      <vt:lpstr>Growth rate dependance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Principles of Bioengineering</dc:title>
  <dc:creator>Slavov, Nikolai</dc:creator>
  <cp:lastModifiedBy>Slavov, Nikolai</cp:lastModifiedBy>
  <cp:revision>32</cp:revision>
  <dcterms:created xsi:type="dcterms:W3CDTF">2020-01-09T13:26:11Z</dcterms:created>
  <dcterms:modified xsi:type="dcterms:W3CDTF">2026-01-16T15:18:43Z</dcterms:modified>
</cp:coreProperties>
</file>