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media/image4.jpg" ContentType="image/jpeg"/>
  <Override PartName="/ppt/media/image6.jpg" ContentType="image/jpeg"/>
  <Override PartName="/ppt/media/image8.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handoutMasterIdLst>
    <p:handoutMasterId r:id="rId3"/>
  </p:handoutMasterIdLst>
  <p:sldIdLst>
    <p:sldId id="256" r:id="rId2"/>
  </p:sldIdLst>
  <p:sldSz cx="43891200" cy="32918400"/>
  <p:notesSz cx="9236075" cy="6973888"/>
  <p:defaultTextStyle>
    <a:defPPr>
      <a:defRPr lang="en-AU"/>
    </a:defPPr>
    <a:lvl1pPr algn="l" rtl="0" fontAlgn="base">
      <a:spcBef>
        <a:spcPct val="0"/>
      </a:spcBef>
      <a:spcAft>
        <a:spcPct val="0"/>
      </a:spcAft>
      <a:defRPr sz="2000" b="1" kern="1200">
        <a:solidFill>
          <a:schemeClr val="tx1"/>
        </a:solidFill>
        <a:latin typeface="Times" panose="02020603050405020304" pitchFamily="18" charset="0"/>
        <a:ea typeface="MS PGothic" panose="020B0600070205080204" pitchFamily="34" charset="-128"/>
        <a:cs typeface="+mn-cs"/>
      </a:defRPr>
    </a:lvl1pPr>
    <a:lvl2pPr marL="457200" algn="l" rtl="0" fontAlgn="base">
      <a:spcBef>
        <a:spcPct val="0"/>
      </a:spcBef>
      <a:spcAft>
        <a:spcPct val="0"/>
      </a:spcAft>
      <a:defRPr sz="2000" b="1" kern="1200">
        <a:solidFill>
          <a:schemeClr val="tx1"/>
        </a:solidFill>
        <a:latin typeface="Times" panose="02020603050405020304" pitchFamily="18" charset="0"/>
        <a:ea typeface="MS PGothic" panose="020B0600070205080204" pitchFamily="34" charset="-128"/>
        <a:cs typeface="+mn-cs"/>
      </a:defRPr>
    </a:lvl2pPr>
    <a:lvl3pPr marL="914400" algn="l" rtl="0" fontAlgn="base">
      <a:spcBef>
        <a:spcPct val="0"/>
      </a:spcBef>
      <a:spcAft>
        <a:spcPct val="0"/>
      </a:spcAft>
      <a:defRPr sz="2000" b="1" kern="1200">
        <a:solidFill>
          <a:schemeClr val="tx1"/>
        </a:solidFill>
        <a:latin typeface="Times" panose="02020603050405020304" pitchFamily="18" charset="0"/>
        <a:ea typeface="MS PGothic" panose="020B0600070205080204" pitchFamily="34" charset="-128"/>
        <a:cs typeface="+mn-cs"/>
      </a:defRPr>
    </a:lvl3pPr>
    <a:lvl4pPr marL="1371600" algn="l" rtl="0" fontAlgn="base">
      <a:spcBef>
        <a:spcPct val="0"/>
      </a:spcBef>
      <a:spcAft>
        <a:spcPct val="0"/>
      </a:spcAft>
      <a:defRPr sz="2000" b="1" kern="1200">
        <a:solidFill>
          <a:schemeClr val="tx1"/>
        </a:solidFill>
        <a:latin typeface="Times" panose="02020603050405020304" pitchFamily="18" charset="0"/>
        <a:ea typeface="MS PGothic" panose="020B0600070205080204" pitchFamily="34" charset="-128"/>
        <a:cs typeface="+mn-cs"/>
      </a:defRPr>
    </a:lvl4pPr>
    <a:lvl5pPr marL="1828800" algn="l" rtl="0" fontAlgn="base">
      <a:spcBef>
        <a:spcPct val="0"/>
      </a:spcBef>
      <a:spcAft>
        <a:spcPct val="0"/>
      </a:spcAft>
      <a:defRPr sz="2000" b="1" kern="1200">
        <a:solidFill>
          <a:schemeClr val="tx1"/>
        </a:solidFill>
        <a:latin typeface="Times" panose="02020603050405020304" pitchFamily="18" charset="0"/>
        <a:ea typeface="MS PGothic" panose="020B0600070205080204" pitchFamily="34" charset="-128"/>
        <a:cs typeface="+mn-cs"/>
      </a:defRPr>
    </a:lvl5pPr>
    <a:lvl6pPr marL="2286000" algn="l" defTabSz="914400" rtl="0" eaLnBrk="1" latinLnBrk="0" hangingPunct="1">
      <a:defRPr sz="2000" b="1" kern="1200">
        <a:solidFill>
          <a:schemeClr val="tx1"/>
        </a:solidFill>
        <a:latin typeface="Times" panose="02020603050405020304" pitchFamily="18" charset="0"/>
        <a:ea typeface="MS PGothic" panose="020B0600070205080204" pitchFamily="34" charset="-128"/>
        <a:cs typeface="+mn-cs"/>
      </a:defRPr>
    </a:lvl6pPr>
    <a:lvl7pPr marL="2743200" algn="l" defTabSz="914400" rtl="0" eaLnBrk="1" latinLnBrk="0" hangingPunct="1">
      <a:defRPr sz="2000" b="1" kern="1200">
        <a:solidFill>
          <a:schemeClr val="tx1"/>
        </a:solidFill>
        <a:latin typeface="Times" panose="02020603050405020304" pitchFamily="18" charset="0"/>
        <a:ea typeface="MS PGothic" panose="020B0600070205080204" pitchFamily="34" charset="-128"/>
        <a:cs typeface="+mn-cs"/>
      </a:defRPr>
    </a:lvl7pPr>
    <a:lvl8pPr marL="3200400" algn="l" defTabSz="914400" rtl="0" eaLnBrk="1" latinLnBrk="0" hangingPunct="1">
      <a:defRPr sz="2000" b="1" kern="1200">
        <a:solidFill>
          <a:schemeClr val="tx1"/>
        </a:solidFill>
        <a:latin typeface="Times" panose="02020603050405020304" pitchFamily="18" charset="0"/>
        <a:ea typeface="MS PGothic" panose="020B0600070205080204" pitchFamily="34" charset="-128"/>
        <a:cs typeface="+mn-cs"/>
      </a:defRPr>
    </a:lvl8pPr>
    <a:lvl9pPr marL="3657600" algn="l" defTabSz="914400" rtl="0" eaLnBrk="1" latinLnBrk="0" hangingPunct="1">
      <a:defRPr sz="2000" b="1" kern="1200">
        <a:solidFill>
          <a:schemeClr val="tx1"/>
        </a:solidFill>
        <a:latin typeface="Times"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0110">
          <p15:clr>
            <a:srgbClr val="A4A3A4"/>
          </p15:clr>
        </p15:guide>
        <p15:guide id="2" orient="horz" pos="947">
          <p15:clr>
            <a:srgbClr val="A4A3A4"/>
          </p15:clr>
        </p15:guide>
        <p15:guide id="3" orient="horz" pos="9060">
          <p15:clr>
            <a:srgbClr val="A4A3A4"/>
          </p15:clr>
        </p15:guide>
        <p15:guide id="4" orient="horz" pos="15721">
          <p15:clr>
            <a:srgbClr val="A4A3A4"/>
          </p15:clr>
        </p15:guide>
        <p15:guide id="5" orient="horz" pos="4654">
          <p15:clr>
            <a:srgbClr val="A4A3A4"/>
          </p15:clr>
        </p15:guide>
        <p15:guide id="6" orient="horz" pos="19911">
          <p15:clr>
            <a:srgbClr val="A4A3A4"/>
          </p15:clr>
        </p15:guide>
        <p15:guide id="7" orient="horz" pos="4644">
          <p15:clr>
            <a:srgbClr val="A4A3A4"/>
          </p15:clr>
        </p15:guide>
        <p15:guide id="8" pos="26813">
          <p15:clr>
            <a:srgbClr val="A4A3A4"/>
          </p15:clr>
        </p15:guide>
        <p15:guide id="9" pos="18515">
          <p15:clr>
            <a:srgbClr val="A4A3A4"/>
          </p15:clr>
        </p15:guide>
        <p15:guide id="10" pos="895">
          <p15:clr>
            <a:srgbClr val="A4A3A4"/>
          </p15:clr>
        </p15:guide>
        <p15:guide id="11" pos="6553">
          <p15:clr>
            <a:srgbClr val="A4A3A4"/>
          </p15:clr>
        </p15:guide>
        <p15:guide id="12" pos="6995">
          <p15:clr>
            <a:srgbClr val="A4A3A4"/>
          </p15:clr>
        </p15:guide>
        <p15:guide id="13" pos="17983">
          <p15:clr>
            <a:srgbClr val="A4A3A4"/>
          </p15:clr>
        </p15:guide>
        <p15:guide id="14" pos="9948">
          <p15:clr>
            <a:srgbClr val="A4A3A4"/>
          </p15:clr>
        </p15:guide>
        <p15:guide id="15" pos="1771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9999FF"/>
    <a:srgbClr val="005A9B"/>
    <a:srgbClr val="0065BD"/>
    <a:srgbClr val="8FA8BD"/>
    <a:srgbClr val="0033CC"/>
    <a:srgbClr val="FF99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5590" autoAdjust="0"/>
    <p:restoredTop sz="94718" autoAdjust="0"/>
  </p:normalViewPr>
  <p:slideViewPr>
    <p:cSldViewPr>
      <p:cViewPr varScale="1">
        <p:scale>
          <a:sx n="26" d="100"/>
          <a:sy n="26" d="100"/>
        </p:scale>
        <p:origin x="2189" y="82"/>
      </p:cViewPr>
      <p:guideLst>
        <p:guide orient="horz" pos="20110"/>
        <p:guide orient="horz" pos="947"/>
        <p:guide orient="horz" pos="9060"/>
        <p:guide orient="horz" pos="15721"/>
        <p:guide orient="horz" pos="4654"/>
        <p:guide orient="horz" pos="19911"/>
        <p:guide orient="horz" pos="4644"/>
        <p:guide pos="26813"/>
        <p:guide pos="18515"/>
        <p:guide pos="895"/>
        <p:guide pos="6553"/>
        <p:guide pos="6995"/>
        <p:guide pos="17983"/>
        <p:guide pos="9948"/>
        <p:guide pos="1771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 d="100"/>
        <a:sy n="2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handoutMaster" Target="handoutMasters/handout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4002088" cy="349250"/>
          </a:xfrm>
          <a:prstGeom prst="rect">
            <a:avLst/>
          </a:prstGeom>
          <a:noFill/>
          <a:ln w="9525">
            <a:noFill/>
            <a:miter lim="800000"/>
            <a:headEnd/>
            <a:tailEnd/>
          </a:ln>
          <a:effectLst/>
        </p:spPr>
        <p:txBody>
          <a:bodyPr vert="horz" wrap="square" lIns="91584" tIns="45792" rIns="91584" bIns="45792" numCol="1" anchor="t" anchorCtr="0" compatLnSpc="1">
            <a:prstTxWarp prst="textNoShape">
              <a:avLst/>
            </a:prstTxWarp>
          </a:bodyPr>
          <a:lstStyle>
            <a:lvl1pPr defTabSz="915827" eaLnBrk="0" hangingPunct="0">
              <a:defRPr sz="1200" b="0">
                <a:latin typeface="Times" charset="0"/>
                <a:ea typeface="ＭＳ Ｐゴシック" charset="0"/>
                <a:cs typeface="ＭＳ Ｐゴシック" charset="0"/>
              </a:defRPr>
            </a:lvl1pPr>
          </a:lstStyle>
          <a:p>
            <a:pPr>
              <a:defRPr/>
            </a:pPr>
            <a:endParaRPr lang="en-US"/>
          </a:p>
        </p:txBody>
      </p:sp>
      <p:sp>
        <p:nvSpPr>
          <p:cNvPr id="5123" name="Rectangle 3"/>
          <p:cNvSpPr>
            <a:spLocks noGrp="1" noChangeArrowheads="1"/>
          </p:cNvSpPr>
          <p:nvPr>
            <p:ph type="dt" sz="quarter" idx="1"/>
          </p:nvPr>
        </p:nvSpPr>
        <p:spPr bwMode="auto">
          <a:xfrm>
            <a:off x="5230813" y="0"/>
            <a:ext cx="4003675" cy="349250"/>
          </a:xfrm>
          <a:prstGeom prst="rect">
            <a:avLst/>
          </a:prstGeom>
          <a:noFill/>
          <a:ln w="9525">
            <a:noFill/>
            <a:miter lim="800000"/>
            <a:headEnd/>
            <a:tailEnd/>
          </a:ln>
          <a:effectLst/>
        </p:spPr>
        <p:txBody>
          <a:bodyPr vert="horz" wrap="square" lIns="91584" tIns="45792" rIns="91584" bIns="45792" numCol="1" anchor="t" anchorCtr="0" compatLnSpc="1">
            <a:prstTxWarp prst="textNoShape">
              <a:avLst/>
            </a:prstTxWarp>
          </a:bodyPr>
          <a:lstStyle>
            <a:lvl1pPr algn="r" defTabSz="915827" eaLnBrk="0" hangingPunct="0">
              <a:defRPr sz="1200" b="0">
                <a:latin typeface="Times" charset="0"/>
                <a:ea typeface="ＭＳ Ｐゴシック" charset="0"/>
                <a:cs typeface="ＭＳ Ｐゴシック" charset="0"/>
              </a:defRPr>
            </a:lvl1pPr>
          </a:lstStyle>
          <a:p>
            <a:pPr>
              <a:defRPr/>
            </a:pPr>
            <a:endParaRPr lang="en-US"/>
          </a:p>
        </p:txBody>
      </p:sp>
      <p:sp>
        <p:nvSpPr>
          <p:cNvPr id="5124" name="Rectangle 4"/>
          <p:cNvSpPr>
            <a:spLocks noGrp="1" noChangeArrowheads="1"/>
          </p:cNvSpPr>
          <p:nvPr>
            <p:ph type="ftr" sz="quarter" idx="2"/>
          </p:nvPr>
        </p:nvSpPr>
        <p:spPr bwMode="auto">
          <a:xfrm>
            <a:off x="0" y="6623050"/>
            <a:ext cx="4002088" cy="349250"/>
          </a:xfrm>
          <a:prstGeom prst="rect">
            <a:avLst/>
          </a:prstGeom>
          <a:noFill/>
          <a:ln w="9525">
            <a:noFill/>
            <a:miter lim="800000"/>
            <a:headEnd/>
            <a:tailEnd/>
          </a:ln>
          <a:effectLst/>
        </p:spPr>
        <p:txBody>
          <a:bodyPr vert="horz" wrap="square" lIns="91584" tIns="45792" rIns="91584" bIns="45792" numCol="1" anchor="b" anchorCtr="0" compatLnSpc="1">
            <a:prstTxWarp prst="textNoShape">
              <a:avLst/>
            </a:prstTxWarp>
          </a:bodyPr>
          <a:lstStyle>
            <a:lvl1pPr defTabSz="915827" eaLnBrk="0" hangingPunct="0">
              <a:defRPr sz="1200" b="0">
                <a:latin typeface="Times" charset="0"/>
                <a:ea typeface="ＭＳ Ｐゴシック" charset="0"/>
                <a:cs typeface="ＭＳ Ｐゴシック" charset="0"/>
              </a:defRPr>
            </a:lvl1pPr>
          </a:lstStyle>
          <a:p>
            <a:pPr>
              <a:defRPr/>
            </a:pPr>
            <a:endParaRPr lang="en-US"/>
          </a:p>
        </p:txBody>
      </p:sp>
      <p:sp>
        <p:nvSpPr>
          <p:cNvPr id="5125" name="Rectangle 5"/>
          <p:cNvSpPr>
            <a:spLocks noGrp="1" noChangeArrowheads="1"/>
          </p:cNvSpPr>
          <p:nvPr>
            <p:ph type="sldNum" sz="quarter" idx="3"/>
          </p:nvPr>
        </p:nvSpPr>
        <p:spPr bwMode="auto">
          <a:xfrm>
            <a:off x="5230813" y="6623050"/>
            <a:ext cx="4003675" cy="349250"/>
          </a:xfrm>
          <a:prstGeom prst="rect">
            <a:avLst/>
          </a:prstGeom>
          <a:noFill/>
          <a:ln w="9525">
            <a:noFill/>
            <a:miter lim="800000"/>
            <a:headEnd/>
            <a:tailEnd/>
          </a:ln>
          <a:effectLst/>
        </p:spPr>
        <p:txBody>
          <a:bodyPr vert="horz" wrap="square" lIns="91584" tIns="45792" rIns="91584" bIns="45792" numCol="1" anchor="b" anchorCtr="0" compatLnSpc="1">
            <a:prstTxWarp prst="textNoShape">
              <a:avLst/>
            </a:prstTxWarp>
          </a:bodyPr>
          <a:lstStyle>
            <a:lvl1pPr algn="r" eaLnBrk="0" hangingPunct="0">
              <a:defRPr sz="1200" b="0"/>
            </a:lvl1pPr>
          </a:lstStyle>
          <a:p>
            <a:fld id="{E01E202C-8824-4857-B576-73BF7883B069}"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3290888" y="29992638"/>
            <a:ext cx="9144000" cy="2193925"/>
          </a:xfrm>
          <a:prstGeom prst="rect">
            <a:avLst/>
          </a:prstGeom>
        </p:spPr>
        <p:txBody>
          <a:bodyPr/>
          <a:lstStyle>
            <a:lvl1pPr>
              <a:defRPr>
                <a:latin typeface="Times" charset="0"/>
                <a:ea typeface="ＭＳ Ｐゴシック" charset="0"/>
                <a:cs typeface="ＭＳ Ｐゴシック" charset="0"/>
              </a:defRPr>
            </a:lvl1pPr>
          </a:lstStyle>
          <a:p>
            <a:pPr>
              <a:defRPr/>
            </a:pPr>
            <a:endParaRPr lang="en-US"/>
          </a:p>
        </p:txBody>
      </p:sp>
      <p:sp>
        <p:nvSpPr>
          <p:cNvPr id="3" name="Rectangle 5"/>
          <p:cNvSpPr>
            <a:spLocks noGrp="1" noChangeArrowheads="1"/>
          </p:cNvSpPr>
          <p:nvPr>
            <p:ph type="ftr" sz="quarter" idx="11"/>
          </p:nvPr>
        </p:nvSpPr>
        <p:spPr>
          <a:xfrm>
            <a:off x="14997113" y="29992638"/>
            <a:ext cx="13896975" cy="2193925"/>
          </a:xfrm>
          <a:prstGeom prst="rect">
            <a:avLst/>
          </a:prstGeom>
        </p:spPr>
        <p:txBody>
          <a:bodyPr/>
          <a:lstStyle>
            <a:lvl1pPr>
              <a:defRPr>
                <a:latin typeface="Times" charset="0"/>
                <a:ea typeface="ＭＳ Ｐゴシック" charset="0"/>
                <a:cs typeface="ＭＳ Ｐゴシック" charset="0"/>
              </a:defRPr>
            </a:lvl1pPr>
          </a:lstStyle>
          <a:p>
            <a:pPr>
              <a:defRPr/>
            </a:pPr>
            <a:endParaRPr lang="en-US"/>
          </a:p>
        </p:txBody>
      </p:sp>
      <p:sp>
        <p:nvSpPr>
          <p:cNvPr id="4" name="Rectangle 6"/>
          <p:cNvSpPr>
            <a:spLocks noGrp="1" noChangeArrowheads="1"/>
          </p:cNvSpPr>
          <p:nvPr>
            <p:ph type="sldNum" sz="quarter" idx="12"/>
          </p:nvPr>
        </p:nvSpPr>
        <p:spPr>
          <a:xfrm>
            <a:off x="31456313" y="29992638"/>
            <a:ext cx="9144000" cy="2193925"/>
          </a:xfrm>
          <a:prstGeom prst="rect">
            <a:avLst/>
          </a:prstGeom>
        </p:spPr>
        <p:txBody>
          <a:bodyPr vert="horz" wrap="square" lIns="91440" tIns="45720" rIns="91440" bIns="45720" numCol="1" anchor="t" anchorCtr="0" compatLnSpc="1">
            <a:prstTxWarp prst="textNoShape">
              <a:avLst/>
            </a:prstTxWarp>
          </a:bodyPr>
          <a:lstStyle>
            <a:lvl1pPr>
              <a:defRPr/>
            </a:lvl1pPr>
          </a:lstStyle>
          <a:p>
            <a:fld id="{D49DE662-09F0-43B4-B388-A03CD54E167C}" type="slidenum">
              <a:rPr lang="en-AU" altLang="en-US"/>
              <a:pPr/>
              <a:t>‹#›</a:t>
            </a:fld>
            <a:endParaRPr lang="en-AU" altLang="en-US"/>
          </a:p>
        </p:txBody>
      </p:sp>
    </p:spTree>
    <p:extLst>
      <p:ext uri="{BB962C8B-B14F-4D97-AF65-F5344CB8AC3E}">
        <p14:creationId xmlns:p14="http://schemas.microsoft.com/office/powerpoint/2010/main" val="59906228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7"/>
          <p:cNvSpPr>
            <a:spLocks noChangeArrowheads="1"/>
          </p:cNvSpPr>
          <p:nvPr/>
        </p:nvSpPr>
        <p:spPr bwMode="auto">
          <a:xfrm>
            <a:off x="0" y="0"/>
            <a:ext cx="43891200" cy="329184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b="1">
                <a:solidFill>
                  <a:schemeClr val="tx1"/>
                </a:solidFill>
                <a:latin typeface="Times" pitchFamily="127" charset="0"/>
                <a:ea typeface="MS PGothic" pitchFamily="34" charset="-128"/>
              </a:defRPr>
            </a:lvl1pPr>
            <a:lvl2pPr marL="742950" indent="-285750" eaLnBrk="0" hangingPunct="0">
              <a:defRPr sz="2000" b="1">
                <a:solidFill>
                  <a:schemeClr val="tx1"/>
                </a:solidFill>
                <a:latin typeface="Times" pitchFamily="127" charset="0"/>
                <a:ea typeface="MS PGothic" pitchFamily="34" charset="-128"/>
              </a:defRPr>
            </a:lvl2pPr>
            <a:lvl3pPr marL="1143000" indent="-228600" eaLnBrk="0" hangingPunct="0">
              <a:defRPr sz="2000" b="1">
                <a:solidFill>
                  <a:schemeClr val="tx1"/>
                </a:solidFill>
                <a:latin typeface="Times" pitchFamily="127" charset="0"/>
                <a:ea typeface="MS PGothic" pitchFamily="34" charset="-128"/>
              </a:defRPr>
            </a:lvl3pPr>
            <a:lvl4pPr marL="1600200" indent="-228600" eaLnBrk="0" hangingPunct="0">
              <a:defRPr sz="2000" b="1">
                <a:solidFill>
                  <a:schemeClr val="tx1"/>
                </a:solidFill>
                <a:latin typeface="Times" pitchFamily="127" charset="0"/>
                <a:ea typeface="MS PGothic" pitchFamily="34" charset="-128"/>
              </a:defRPr>
            </a:lvl4pPr>
            <a:lvl5pPr marL="2057400" indent="-228600" eaLnBrk="0" hangingPunct="0">
              <a:defRPr sz="2000" b="1">
                <a:solidFill>
                  <a:schemeClr val="tx1"/>
                </a:solidFill>
                <a:latin typeface="Times" pitchFamily="127" charset="0"/>
                <a:ea typeface="MS PGothic" pitchFamily="34" charset="-128"/>
              </a:defRPr>
            </a:lvl5pPr>
            <a:lvl6pPr marL="2514600" indent="-228600" eaLnBrk="0" fontAlgn="base" hangingPunct="0">
              <a:spcBef>
                <a:spcPct val="0"/>
              </a:spcBef>
              <a:spcAft>
                <a:spcPct val="0"/>
              </a:spcAft>
              <a:defRPr sz="2000" b="1">
                <a:solidFill>
                  <a:schemeClr val="tx1"/>
                </a:solidFill>
                <a:latin typeface="Times" pitchFamily="127" charset="0"/>
                <a:ea typeface="MS PGothic" pitchFamily="34" charset="-128"/>
              </a:defRPr>
            </a:lvl6pPr>
            <a:lvl7pPr marL="2971800" indent="-228600" eaLnBrk="0" fontAlgn="base" hangingPunct="0">
              <a:spcBef>
                <a:spcPct val="0"/>
              </a:spcBef>
              <a:spcAft>
                <a:spcPct val="0"/>
              </a:spcAft>
              <a:defRPr sz="2000" b="1">
                <a:solidFill>
                  <a:schemeClr val="tx1"/>
                </a:solidFill>
                <a:latin typeface="Times" pitchFamily="127" charset="0"/>
                <a:ea typeface="MS PGothic" pitchFamily="34" charset="-128"/>
              </a:defRPr>
            </a:lvl7pPr>
            <a:lvl8pPr marL="3429000" indent="-228600" eaLnBrk="0" fontAlgn="base" hangingPunct="0">
              <a:spcBef>
                <a:spcPct val="0"/>
              </a:spcBef>
              <a:spcAft>
                <a:spcPct val="0"/>
              </a:spcAft>
              <a:defRPr sz="2000" b="1">
                <a:solidFill>
                  <a:schemeClr val="tx1"/>
                </a:solidFill>
                <a:latin typeface="Times" pitchFamily="127" charset="0"/>
                <a:ea typeface="MS PGothic" pitchFamily="34" charset="-128"/>
              </a:defRPr>
            </a:lvl8pPr>
            <a:lvl9pPr marL="3886200" indent="-228600" eaLnBrk="0" fontAlgn="base" hangingPunct="0">
              <a:spcBef>
                <a:spcPct val="0"/>
              </a:spcBef>
              <a:spcAft>
                <a:spcPct val="0"/>
              </a:spcAft>
              <a:defRPr sz="2000" b="1">
                <a:solidFill>
                  <a:schemeClr val="tx1"/>
                </a:solidFill>
                <a:latin typeface="Times" pitchFamily="127" charset="0"/>
                <a:ea typeface="MS PGothic" pitchFamily="34" charset="-128"/>
              </a:defRPr>
            </a:lvl9pPr>
          </a:lstStyle>
          <a:p>
            <a:pPr>
              <a:defRPr/>
            </a:pPr>
            <a:endParaRPr lang="en-US" altLang="en-US"/>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ctr" defTabSz="3762375" rtl="0" eaLnBrk="0" fontAlgn="base" hangingPunct="0">
        <a:spcBef>
          <a:spcPct val="0"/>
        </a:spcBef>
        <a:spcAft>
          <a:spcPct val="0"/>
        </a:spcAft>
        <a:defRPr sz="18100">
          <a:solidFill>
            <a:schemeClr val="tx2"/>
          </a:solidFill>
          <a:latin typeface="+mj-lt"/>
          <a:ea typeface="MS PGothic" pitchFamily="34" charset="-128"/>
          <a:cs typeface="ＭＳ Ｐゴシック" pitchFamily="-65" charset="-128"/>
        </a:defRPr>
      </a:lvl1pPr>
      <a:lvl2pPr algn="ctr" defTabSz="3762375" rtl="0" eaLnBrk="0" fontAlgn="base" hangingPunct="0">
        <a:spcBef>
          <a:spcPct val="0"/>
        </a:spcBef>
        <a:spcAft>
          <a:spcPct val="0"/>
        </a:spcAft>
        <a:defRPr sz="18100">
          <a:solidFill>
            <a:schemeClr val="tx2"/>
          </a:solidFill>
          <a:latin typeface="Times" pitchFamily="18" charset="0"/>
          <a:ea typeface="MS PGothic" pitchFamily="34" charset="-128"/>
          <a:cs typeface="ＭＳ Ｐゴシック" pitchFamily="-65" charset="-128"/>
        </a:defRPr>
      </a:lvl2pPr>
      <a:lvl3pPr algn="ctr" defTabSz="3762375" rtl="0" eaLnBrk="0" fontAlgn="base" hangingPunct="0">
        <a:spcBef>
          <a:spcPct val="0"/>
        </a:spcBef>
        <a:spcAft>
          <a:spcPct val="0"/>
        </a:spcAft>
        <a:defRPr sz="18100">
          <a:solidFill>
            <a:schemeClr val="tx2"/>
          </a:solidFill>
          <a:latin typeface="Times" pitchFamily="18" charset="0"/>
          <a:ea typeface="MS PGothic" pitchFamily="34" charset="-128"/>
          <a:cs typeface="ＭＳ Ｐゴシック" pitchFamily="-65" charset="-128"/>
        </a:defRPr>
      </a:lvl3pPr>
      <a:lvl4pPr algn="ctr" defTabSz="3762375" rtl="0" eaLnBrk="0" fontAlgn="base" hangingPunct="0">
        <a:spcBef>
          <a:spcPct val="0"/>
        </a:spcBef>
        <a:spcAft>
          <a:spcPct val="0"/>
        </a:spcAft>
        <a:defRPr sz="18100">
          <a:solidFill>
            <a:schemeClr val="tx2"/>
          </a:solidFill>
          <a:latin typeface="Times" pitchFamily="18" charset="0"/>
          <a:ea typeface="MS PGothic" pitchFamily="34" charset="-128"/>
          <a:cs typeface="ＭＳ Ｐゴシック" pitchFamily="-65" charset="-128"/>
        </a:defRPr>
      </a:lvl4pPr>
      <a:lvl5pPr algn="ctr" defTabSz="3762375" rtl="0" eaLnBrk="0" fontAlgn="base" hangingPunct="0">
        <a:spcBef>
          <a:spcPct val="0"/>
        </a:spcBef>
        <a:spcAft>
          <a:spcPct val="0"/>
        </a:spcAft>
        <a:defRPr sz="18100">
          <a:solidFill>
            <a:schemeClr val="tx2"/>
          </a:solidFill>
          <a:latin typeface="Times" pitchFamily="18" charset="0"/>
          <a:ea typeface="MS PGothic" pitchFamily="34" charset="-128"/>
          <a:cs typeface="ＭＳ Ｐゴシック" pitchFamily="-65" charset="-128"/>
        </a:defRPr>
      </a:lvl5pPr>
      <a:lvl6pPr marL="457200" algn="ctr" defTabSz="3762375" rtl="0" fontAlgn="base">
        <a:spcBef>
          <a:spcPct val="0"/>
        </a:spcBef>
        <a:spcAft>
          <a:spcPct val="0"/>
        </a:spcAft>
        <a:defRPr sz="18100">
          <a:solidFill>
            <a:schemeClr val="tx2"/>
          </a:solidFill>
          <a:latin typeface="Times" pitchFamily="18" charset="0"/>
        </a:defRPr>
      </a:lvl6pPr>
      <a:lvl7pPr marL="914400" algn="ctr" defTabSz="3762375" rtl="0" fontAlgn="base">
        <a:spcBef>
          <a:spcPct val="0"/>
        </a:spcBef>
        <a:spcAft>
          <a:spcPct val="0"/>
        </a:spcAft>
        <a:defRPr sz="18100">
          <a:solidFill>
            <a:schemeClr val="tx2"/>
          </a:solidFill>
          <a:latin typeface="Times" pitchFamily="18" charset="0"/>
        </a:defRPr>
      </a:lvl7pPr>
      <a:lvl8pPr marL="1371600" algn="ctr" defTabSz="3762375" rtl="0" fontAlgn="base">
        <a:spcBef>
          <a:spcPct val="0"/>
        </a:spcBef>
        <a:spcAft>
          <a:spcPct val="0"/>
        </a:spcAft>
        <a:defRPr sz="18100">
          <a:solidFill>
            <a:schemeClr val="tx2"/>
          </a:solidFill>
          <a:latin typeface="Times" pitchFamily="18" charset="0"/>
        </a:defRPr>
      </a:lvl8pPr>
      <a:lvl9pPr marL="1828800" algn="ctr" defTabSz="3762375" rtl="0" fontAlgn="base">
        <a:spcBef>
          <a:spcPct val="0"/>
        </a:spcBef>
        <a:spcAft>
          <a:spcPct val="0"/>
        </a:spcAft>
        <a:defRPr sz="18100">
          <a:solidFill>
            <a:schemeClr val="tx2"/>
          </a:solidFill>
          <a:latin typeface="Times" pitchFamily="18" charset="0"/>
        </a:defRPr>
      </a:lvl9pPr>
    </p:titleStyle>
    <p:bodyStyle>
      <a:lvl1pPr marL="1411288" indent="-1411288" algn="l" defTabSz="3762375" rtl="0" eaLnBrk="0" fontAlgn="base" hangingPunct="0">
        <a:spcBef>
          <a:spcPct val="20000"/>
        </a:spcBef>
        <a:spcAft>
          <a:spcPct val="0"/>
        </a:spcAft>
        <a:buChar char="•"/>
        <a:defRPr sz="13100">
          <a:solidFill>
            <a:schemeClr val="tx1"/>
          </a:solidFill>
          <a:latin typeface="+mn-lt"/>
          <a:ea typeface="MS PGothic" pitchFamily="34" charset="-128"/>
          <a:cs typeface="ＭＳ Ｐゴシック" pitchFamily="-65" charset="-128"/>
        </a:defRPr>
      </a:lvl1pPr>
      <a:lvl2pPr marL="3055938" indent="-1176338" algn="l" defTabSz="3762375" rtl="0" eaLnBrk="0" fontAlgn="base" hangingPunct="0">
        <a:spcBef>
          <a:spcPct val="20000"/>
        </a:spcBef>
        <a:spcAft>
          <a:spcPct val="0"/>
        </a:spcAft>
        <a:buChar char="–"/>
        <a:defRPr sz="11600">
          <a:solidFill>
            <a:schemeClr val="tx1"/>
          </a:solidFill>
          <a:latin typeface="+mn-lt"/>
          <a:ea typeface="MS PGothic" pitchFamily="34" charset="-128"/>
          <a:cs typeface="ＭＳ Ｐゴシック" charset="0"/>
        </a:defRPr>
      </a:lvl2pPr>
      <a:lvl3pPr marL="4702175" indent="-939800" algn="l" defTabSz="3762375" rtl="0" eaLnBrk="0" fontAlgn="base" hangingPunct="0">
        <a:spcBef>
          <a:spcPct val="20000"/>
        </a:spcBef>
        <a:spcAft>
          <a:spcPct val="0"/>
        </a:spcAft>
        <a:buChar char="•"/>
        <a:defRPr sz="9900">
          <a:solidFill>
            <a:schemeClr val="tx1"/>
          </a:solidFill>
          <a:latin typeface="+mn-lt"/>
          <a:ea typeface="MS PGothic" pitchFamily="34" charset="-128"/>
          <a:cs typeface="ＭＳ Ｐゴシック" charset="0"/>
        </a:defRPr>
      </a:lvl3pPr>
      <a:lvl4pPr marL="6583363" indent="-941388" algn="l" defTabSz="3762375" rtl="0" eaLnBrk="0" fontAlgn="base" hangingPunct="0">
        <a:spcBef>
          <a:spcPct val="20000"/>
        </a:spcBef>
        <a:spcAft>
          <a:spcPct val="0"/>
        </a:spcAft>
        <a:buChar char="–"/>
        <a:defRPr sz="8200">
          <a:solidFill>
            <a:schemeClr val="tx1"/>
          </a:solidFill>
          <a:latin typeface="+mn-lt"/>
          <a:ea typeface="MS PGothic" pitchFamily="34" charset="-128"/>
          <a:cs typeface="ＭＳ Ｐゴシック" charset="0"/>
        </a:defRPr>
      </a:lvl4pPr>
      <a:lvl5pPr marL="8461375" indent="-938213" algn="l" defTabSz="3762375" rtl="0" eaLnBrk="0" fontAlgn="base" hangingPunct="0">
        <a:spcBef>
          <a:spcPct val="20000"/>
        </a:spcBef>
        <a:spcAft>
          <a:spcPct val="0"/>
        </a:spcAft>
        <a:buChar char="»"/>
        <a:defRPr sz="8200">
          <a:solidFill>
            <a:schemeClr val="tx1"/>
          </a:solidFill>
          <a:latin typeface="+mn-lt"/>
          <a:ea typeface="MS PGothic" pitchFamily="34" charset="-128"/>
          <a:cs typeface="ＭＳ Ｐゴシック" charset="0"/>
        </a:defRPr>
      </a:lvl5pPr>
      <a:lvl6pPr marL="8918575" indent="-938213" algn="l" defTabSz="3762375" rtl="0" fontAlgn="base">
        <a:spcBef>
          <a:spcPct val="20000"/>
        </a:spcBef>
        <a:spcAft>
          <a:spcPct val="0"/>
        </a:spcAft>
        <a:buChar char="»"/>
        <a:defRPr sz="8200">
          <a:solidFill>
            <a:schemeClr val="tx1"/>
          </a:solidFill>
          <a:latin typeface="+mn-lt"/>
        </a:defRPr>
      </a:lvl6pPr>
      <a:lvl7pPr marL="9375775" indent="-938213" algn="l" defTabSz="3762375" rtl="0" fontAlgn="base">
        <a:spcBef>
          <a:spcPct val="20000"/>
        </a:spcBef>
        <a:spcAft>
          <a:spcPct val="0"/>
        </a:spcAft>
        <a:buChar char="»"/>
        <a:defRPr sz="8200">
          <a:solidFill>
            <a:schemeClr val="tx1"/>
          </a:solidFill>
          <a:latin typeface="+mn-lt"/>
        </a:defRPr>
      </a:lvl7pPr>
      <a:lvl8pPr marL="9832975" indent="-938213" algn="l" defTabSz="3762375" rtl="0" fontAlgn="base">
        <a:spcBef>
          <a:spcPct val="20000"/>
        </a:spcBef>
        <a:spcAft>
          <a:spcPct val="0"/>
        </a:spcAft>
        <a:buChar char="»"/>
        <a:defRPr sz="8200">
          <a:solidFill>
            <a:schemeClr val="tx1"/>
          </a:solidFill>
          <a:latin typeface="+mn-lt"/>
        </a:defRPr>
      </a:lvl8pPr>
      <a:lvl9pPr marL="10290175" indent="-938213" algn="l" defTabSz="3762375" rtl="0" fontAlgn="base">
        <a:spcBef>
          <a:spcPct val="20000"/>
        </a:spcBef>
        <a:spcAft>
          <a:spcPct val="0"/>
        </a:spcAft>
        <a:buChar char="»"/>
        <a:defRPr sz="8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png"/><Relationship Id="rId1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6.jpg"/><Relationship Id="rId12" Type="http://schemas.openxmlformats.org/officeDocument/2006/relationships/image" Target="../media/image11.png"/><Relationship Id="rId17" Type="http://schemas.openxmlformats.org/officeDocument/2006/relationships/image" Target="../media/image15.png"/><Relationship Id="rId2" Type="http://schemas.openxmlformats.org/officeDocument/2006/relationships/image" Target="../media/image1.jpeg"/><Relationship Id="rId16" Type="http://schemas.openxmlformats.org/officeDocument/2006/relationships/hyperlink" Target="https://doi.org/10.1101/102681" TargetMode="External"/><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10.png"/><Relationship Id="rId5" Type="http://schemas.openxmlformats.org/officeDocument/2006/relationships/image" Target="../media/image4.jp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17.png"/><Relationship Id="rId4" Type="http://schemas.openxmlformats.org/officeDocument/2006/relationships/image" Target="../media/image3.jpg"/><Relationship Id="rId9" Type="http://schemas.openxmlformats.org/officeDocument/2006/relationships/image" Target="../media/image8.jp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6" name="Picture 66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379525" y="18018445"/>
            <a:ext cx="7357275" cy="6289355"/>
          </a:xfrm>
          <a:prstGeom prst="rect">
            <a:avLst/>
          </a:prstGeom>
        </p:spPr>
      </p:pic>
      <p:sp>
        <p:nvSpPr>
          <p:cNvPr id="4103" name="Text Box 17"/>
          <p:cNvSpPr txBox="1">
            <a:spLocks noChangeArrowheads="1"/>
          </p:cNvSpPr>
          <p:nvPr/>
        </p:nvSpPr>
        <p:spPr bwMode="auto">
          <a:xfrm>
            <a:off x="749906" y="575487"/>
            <a:ext cx="42206888" cy="3272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defTabSz="760413" eaLnBrk="0" hangingPunct="0">
              <a:defRPr sz="2000" b="1">
                <a:solidFill>
                  <a:schemeClr val="tx1"/>
                </a:solidFill>
                <a:latin typeface="Times" charset="0"/>
                <a:ea typeface="ＭＳ Ｐゴシック" charset="0"/>
                <a:cs typeface="ＭＳ Ｐゴシック" charset="0"/>
              </a:defRPr>
            </a:lvl1pPr>
            <a:lvl2pPr marL="742950" indent="-285750" defTabSz="760413" eaLnBrk="0" hangingPunct="0">
              <a:defRPr sz="2000" b="1">
                <a:solidFill>
                  <a:schemeClr val="tx1"/>
                </a:solidFill>
                <a:latin typeface="Times" charset="0"/>
                <a:ea typeface="ＭＳ Ｐゴシック" charset="0"/>
                <a:cs typeface="ＭＳ Ｐゴシック" charset="0"/>
              </a:defRPr>
            </a:lvl2pPr>
            <a:lvl3pPr marL="1143000" indent="-228600" defTabSz="760413" eaLnBrk="0" hangingPunct="0">
              <a:defRPr sz="2000" b="1">
                <a:solidFill>
                  <a:schemeClr val="tx1"/>
                </a:solidFill>
                <a:latin typeface="Times" charset="0"/>
                <a:ea typeface="ＭＳ Ｐゴシック" charset="0"/>
                <a:cs typeface="ＭＳ Ｐゴシック" charset="0"/>
              </a:defRPr>
            </a:lvl3pPr>
            <a:lvl4pPr marL="1600200" indent="-228600" defTabSz="760413" eaLnBrk="0" hangingPunct="0">
              <a:defRPr sz="2000" b="1">
                <a:solidFill>
                  <a:schemeClr val="tx1"/>
                </a:solidFill>
                <a:latin typeface="Times" charset="0"/>
                <a:ea typeface="ＭＳ Ｐゴシック" charset="0"/>
                <a:cs typeface="ＭＳ Ｐゴシック" charset="0"/>
              </a:defRPr>
            </a:lvl4pPr>
            <a:lvl5pPr marL="2057400" indent="-228600" defTabSz="760413" eaLnBrk="0" hangingPunct="0">
              <a:defRPr sz="2000" b="1">
                <a:solidFill>
                  <a:schemeClr val="tx1"/>
                </a:solidFill>
                <a:latin typeface="Times" charset="0"/>
                <a:ea typeface="ＭＳ Ｐゴシック" charset="0"/>
                <a:cs typeface="ＭＳ Ｐゴシック" charset="0"/>
              </a:defRPr>
            </a:lvl5pPr>
            <a:lvl6pPr marL="2514600" indent="-228600" defTabSz="760413" eaLnBrk="0" fontAlgn="base" hangingPunct="0">
              <a:spcBef>
                <a:spcPct val="0"/>
              </a:spcBef>
              <a:spcAft>
                <a:spcPct val="0"/>
              </a:spcAft>
              <a:defRPr sz="2000" b="1">
                <a:solidFill>
                  <a:schemeClr val="tx1"/>
                </a:solidFill>
                <a:latin typeface="Times" charset="0"/>
                <a:ea typeface="ＭＳ Ｐゴシック" charset="0"/>
                <a:cs typeface="ＭＳ Ｐゴシック" charset="0"/>
              </a:defRPr>
            </a:lvl6pPr>
            <a:lvl7pPr marL="2971800" indent="-228600" defTabSz="760413" eaLnBrk="0" fontAlgn="base" hangingPunct="0">
              <a:spcBef>
                <a:spcPct val="0"/>
              </a:spcBef>
              <a:spcAft>
                <a:spcPct val="0"/>
              </a:spcAft>
              <a:defRPr sz="2000" b="1">
                <a:solidFill>
                  <a:schemeClr val="tx1"/>
                </a:solidFill>
                <a:latin typeface="Times" charset="0"/>
                <a:ea typeface="ＭＳ Ｐゴシック" charset="0"/>
                <a:cs typeface="ＭＳ Ｐゴシック" charset="0"/>
              </a:defRPr>
            </a:lvl7pPr>
            <a:lvl8pPr marL="3429000" indent="-228600" defTabSz="760413" eaLnBrk="0" fontAlgn="base" hangingPunct="0">
              <a:spcBef>
                <a:spcPct val="0"/>
              </a:spcBef>
              <a:spcAft>
                <a:spcPct val="0"/>
              </a:spcAft>
              <a:defRPr sz="2000" b="1">
                <a:solidFill>
                  <a:schemeClr val="tx1"/>
                </a:solidFill>
                <a:latin typeface="Times" charset="0"/>
                <a:ea typeface="ＭＳ Ｐゴシック" charset="0"/>
                <a:cs typeface="ＭＳ Ｐゴシック" charset="0"/>
              </a:defRPr>
            </a:lvl8pPr>
            <a:lvl9pPr marL="3886200" indent="-228600" defTabSz="760413" eaLnBrk="0" fontAlgn="base" hangingPunct="0">
              <a:spcBef>
                <a:spcPct val="0"/>
              </a:spcBef>
              <a:spcAft>
                <a:spcPct val="0"/>
              </a:spcAft>
              <a:defRPr sz="2000" b="1">
                <a:solidFill>
                  <a:schemeClr val="tx1"/>
                </a:solidFill>
                <a:latin typeface="Times" charset="0"/>
                <a:ea typeface="ＭＳ Ｐゴシック" charset="0"/>
                <a:cs typeface="ＭＳ Ｐゴシック" charset="0"/>
              </a:defRPr>
            </a:lvl9pPr>
          </a:lstStyle>
          <a:p>
            <a:pPr>
              <a:lnSpc>
                <a:spcPct val="90000"/>
              </a:lnSpc>
              <a:spcAft>
                <a:spcPts val="2200"/>
              </a:spcAft>
              <a:defRPr/>
            </a:pPr>
            <a:r>
              <a:rPr lang="en-US" sz="8800" b="0" dirty="0" err="1">
                <a:solidFill>
                  <a:srgbClr val="005A9B"/>
                </a:solidFill>
                <a:latin typeface="Arial" charset="0"/>
              </a:rPr>
              <a:t>SCoPE</a:t>
            </a:r>
            <a:r>
              <a:rPr lang="en-US" sz="8800" b="0" dirty="0">
                <a:solidFill>
                  <a:srgbClr val="005A9B"/>
                </a:solidFill>
                <a:latin typeface="Arial" charset="0"/>
              </a:rPr>
              <a:t>-MS: Quantifying Proteomes of Single Mammalian Cells</a:t>
            </a:r>
          </a:p>
          <a:p>
            <a:pPr defTabSz="914400" eaLnBrk="1" hangingPunct="1">
              <a:spcBef>
                <a:spcPts val="1200"/>
              </a:spcBef>
              <a:spcAft>
                <a:spcPts val="0"/>
              </a:spcAft>
              <a:defRPr/>
            </a:pPr>
            <a:r>
              <a:rPr lang="en-US" sz="4800" spc="100" dirty="0">
                <a:solidFill>
                  <a:srgbClr val="000000"/>
                </a:solidFill>
                <a:latin typeface="Arial"/>
                <a:cs typeface="Arial"/>
              </a:rPr>
              <a:t>Bogdan Budnik</a:t>
            </a:r>
            <a:r>
              <a:rPr lang="en-US" sz="4800" spc="100" baseline="30000" dirty="0">
                <a:solidFill>
                  <a:srgbClr val="000000"/>
                </a:solidFill>
                <a:latin typeface="Arial"/>
                <a:cs typeface="Arial"/>
              </a:rPr>
              <a:t>1</a:t>
            </a:r>
            <a:r>
              <a:rPr lang="en-US" sz="4800" spc="100" dirty="0">
                <a:solidFill>
                  <a:srgbClr val="000000"/>
                </a:solidFill>
                <a:latin typeface="Arial"/>
                <a:cs typeface="Arial"/>
              </a:rPr>
              <a:t>, Ezra Levy</a:t>
            </a:r>
            <a:r>
              <a:rPr lang="en-US" sz="4800" spc="100" baseline="30000" dirty="0">
                <a:solidFill>
                  <a:srgbClr val="000000"/>
                </a:solidFill>
                <a:latin typeface="Arial"/>
                <a:cs typeface="Arial"/>
              </a:rPr>
              <a:t>2</a:t>
            </a:r>
            <a:r>
              <a:rPr lang="en-US" sz="4800" spc="100" dirty="0">
                <a:solidFill>
                  <a:srgbClr val="000000"/>
                </a:solidFill>
                <a:latin typeface="Arial"/>
                <a:cs typeface="Arial"/>
              </a:rPr>
              <a:t>, Harrison Specht</a:t>
            </a:r>
            <a:r>
              <a:rPr lang="en-US" sz="4800" spc="100" baseline="30000" dirty="0">
                <a:solidFill>
                  <a:srgbClr val="000000"/>
                </a:solidFill>
                <a:latin typeface="Arial"/>
                <a:cs typeface="Arial"/>
              </a:rPr>
              <a:t>2</a:t>
            </a:r>
            <a:r>
              <a:rPr lang="en-US" sz="4800" spc="100" dirty="0">
                <a:solidFill>
                  <a:srgbClr val="000000"/>
                </a:solidFill>
                <a:latin typeface="Arial"/>
                <a:cs typeface="Arial"/>
              </a:rPr>
              <a:t>, Nikolai Slavov</a:t>
            </a:r>
            <a:r>
              <a:rPr lang="en-US" sz="4800" spc="100" baseline="30000" dirty="0">
                <a:solidFill>
                  <a:srgbClr val="000000"/>
                </a:solidFill>
                <a:latin typeface="Arial"/>
                <a:cs typeface="Arial"/>
              </a:rPr>
              <a:t>2</a:t>
            </a:r>
          </a:p>
          <a:p>
            <a:pPr defTabSz="914400" eaLnBrk="1" hangingPunct="1">
              <a:spcBef>
                <a:spcPts val="1200"/>
              </a:spcBef>
              <a:spcAft>
                <a:spcPts val="0"/>
              </a:spcAft>
              <a:defRPr/>
            </a:pPr>
            <a:r>
              <a:rPr lang="en-US" sz="4400" b="0" baseline="30000" dirty="0">
                <a:solidFill>
                  <a:srgbClr val="000000"/>
                </a:solidFill>
                <a:latin typeface="Arial" charset="0"/>
                <a:cs typeface="Arial" charset="0"/>
              </a:rPr>
              <a:t>1 MSPRL, FAS Division of Science, Harvard University, Cambridge, MA 02138, USA </a:t>
            </a:r>
            <a:r>
              <a:rPr lang="en-US" sz="4400" b="0" dirty="0">
                <a:solidFill>
                  <a:srgbClr val="000000"/>
                </a:solidFill>
                <a:latin typeface="Arial" charset="0"/>
                <a:cs typeface="Arial" charset="0"/>
              </a:rPr>
              <a:t>  </a:t>
            </a:r>
            <a:r>
              <a:rPr lang="en-US" sz="4400" b="0" baseline="30000" dirty="0">
                <a:solidFill>
                  <a:srgbClr val="000000"/>
                </a:solidFill>
                <a:latin typeface="Arial" charset="0"/>
                <a:cs typeface="Arial" charset="0"/>
              </a:rPr>
              <a:t>2 Departments of Biology and Bioengineering, Northeastern University, Boston, MA02115, USA</a:t>
            </a:r>
          </a:p>
          <a:p>
            <a:pPr>
              <a:lnSpc>
                <a:spcPct val="90000"/>
              </a:lnSpc>
              <a:defRPr/>
            </a:pPr>
            <a:endParaRPr lang="en-US" sz="8800" b="0" dirty="0">
              <a:solidFill>
                <a:srgbClr val="005A9B"/>
              </a:solidFill>
              <a:latin typeface="Arial" charset="0"/>
            </a:endParaRPr>
          </a:p>
        </p:txBody>
      </p:sp>
      <p:sp>
        <p:nvSpPr>
          <p:cNvPr id="3079" name="TextBox 185"/>
          <p:cNvSpPr txBox="1">
            <a:spLocks noChangeArrowheads="1"/>
          </p:cNvSpPr>
          <p:nvPr/>
        </p:nvSpPr>
        <p:spPr bwMode="auto">
          <a:xfrm>
            <a:off x="685800" y="4343400"/>
            <a:ext cx="12405168" cy="6432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2000" b="1">
                <a:solidFill>
                  <a:schemeClr val="tx1"/>
                </a:solidFill>
                <a:latin typeface="Times" panose="02020603050405020304" pitchFamily="18" charset="0"/>
                <a:ea typeface="MS PGothic" panose="020B0600070205080204" pitchFamily="34" charset="-128"/>
              </a:defRPr>
            </a:lvl1pPr>
            <a:lvl2pPr marL="742950" indent="-285750" eaLnBrk="0" hangingPunct="0">
              <a:defRPr sz="2000" b="1">
                <a:solidFill>
                  <a:schemeClr val="tx1"/>
                </a:solidFill>
                <a:latin typeface="Times" panose="02020603050405020304" pitchFamily="18" charset="0"/>
                <a:ea typeface="MS PGothic" panose="020B0600070205080204" pitchFamily="34" charset="-128"/>
              </a:defRPr>
            </a:lvl2pPr>
            <a:lvl3pPr marL="1143000" indent="-228600" eaLnBrk="0" hangingPunct="0">
              <a:defRPr sz="2000" b="1">
                <a:solidFill>
                  <a:schemeClr val="tx1"/>
                </a:solidFill>
                <a:latin typeface="Times" panose="02020603050405020304" pitchFamily="18" charset="0"/>
                <a:ea typeface="MS PGothic" panose="020B0600070205080204" pitchFamily="34" charset="-128"/>
              </a:defRPr>
            </a:lvl3pPr>
            <a:lvl4pPr marL="1600200" indent="-228600" eaLnBrk="0" hangingPunct="0">
              <a:defRPr sz="2000" b="1">
                <a:solidFill>
                  <a:schemeClr val="tx1"/>
                </a:solidFill>
                <a:latin typeface="Times" panose="02020603050405020304" pitchFamily="18" charset="0"/>
                <a:ea typeface="MS PGothic" panose="020B0600070205080204" pitchFamily="34" charset="-128"/>
              </a:defRPr>
            </a:lvl4pPr>
            <a:lvl5pPr marL="2057400" indent="-228600" eaLnBrk="0" hangingPunct="0">
              <a:defRPr sz="2000" b="1">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9pPr>
          </a:lstStyle>
          <a:p>
            <a:pPr eaLnBrk="1" hangingPunct="1">
              <a:spcAft>
                <a:spcPts val="600"/>
              </a:spcAft>
            </a:pPr>
            <a:r>
              <a:rPr lang="en-US" altLang="en-US" sz="4800" dirty="0">
                <a:solidFill>
                  <a:srgbClr val="005A9B"/>
                </a:solidFill>
                <a:latin typeface="Arial" panose="020B0604020202020204" pitchFamily="34" charset="0"/>
                <a:cs typeface="Arial" panose="020B0604020202020204" pitchFamily="34" charset="0"/>
              </a:rPr>
              <a:t>Summary</a:t>
            </a:r>
            <a:endParaRPr lang="en-US" altLang="en-US" sz="4800" b="0" dirty="0">
              <a:latin typeface="Arial" panose="020B0604020202020204" pitchFamily="34" charset="0"/>
              <a:cs typeface="Arial" panose="020B0604020202020204" pitchFamily="34" charset="0"/>
            </a:endParaRPr>
          </a:p>
          <a:p>
            <a:pPr marL="457200" indent="-457200" eaLnBrk="1" hangingPunct="1">
              <a:spcBef>
                <a:spcPts val="1200"/>
              </a:spcBef>
              <a:spcAft>
                <a:spcPts val="600"/>
              </a:spcAft>
              <a:buFont typeface="Wingdings" panose="05000000000000000000" pitchFamily="2" charset="2"/>
              <a:buChar char="§"/>
            </a:pPr>
            <a:r>
              <a:rPr lang="en-US" altLang="en-US" sz="3000" b="0" dirty="0">
                <a:latin typeface="Arial" panose="020B0604020202020204" pitchFamily="34" charset="0"/>
                <a:cs typeface="Arial" panose="020B0604020202020204" pitchFamily="34" charset="0"/>
              </a:rPr>
              <a:t>Proteome heterogeneity is largely unexplored because of the limitations of existing methods for quantifying protein levels in single cells. Two major hurdles were: </a:t>
            </a:r>
          </a:p>
          <a:p>
            <a:pPr marL="1314450" lvl="1" indent="-571500" eaLnBrk="1" hangingPunct="1">
              <a:spcAft>
                <a:spcPts val="600"/>
              </a:spcAft>
              <a:buFont typeface="+mj-lt"/>
              <a:buAutoNum type="romanUcPeriod"/>
            </a:pPr>
            <a:r>
              <a:rPr lang="en-US" altLang="en-US" sz="3000" b="0" dirty="0">
                <a:latin typeface="Arial" panose="020B0604020202020204" pitchFamily="34" charset="0"/>
                <a:cs typeface="Arial" panose="020B0604020202020204" pitchFamily="34" charset="0"/>
              </a:rPr>
              <a:t>Delivering the proteome of single cell to mass spec with minimal losses</a:t>
            </a:r>
          </a:p>
          <a:p>
            <a:pPr marL="1314450" lvl="1" indent="-571500" eaLnBrk="1" hangingPunct="1">
              <a:spcAft>
                <a:spcPts val="1200"/>
              </a:spcAft>
              <a:buFont typeface="+mj-lt"/>
              <a:buAutoNum type="romanUcPeriod"/>
            </a:pPr>
            <a:r>
              <a:rPr lang="en-US" altLang="en-US" sz="3000" b="0" dirty="0">
                <a:latin typeface="Arial" panose="020B0604020202020204" pitchFamily="34" charset="0"/>
                <a:cs typeface="Arial" panose="020B0604020202020204" pitchFamily="34" charset="0"/>
              </a:rPr>
              <a:t>Simultaneously identifying and quantifying peptides from single cell samples</a:t>
            </a:r>
          </a:p>
          <a:p>
            <a:pPr marL="457200" indent="-457200" eaLnBrk="1" hangingPunct="1">
              <a:spcAft>
                <a:spcPts val="600"/>
              </a:spcAft>
              <a:buFont typeface="Wingdings" panose="05000000000000000000" pitchFamily="2" charset="2"/>
              <a:buChar char="§"/>
            </a:pPr>
            <a:r>
              <a:rPr lang="en-US" altLang="en-US" sz="3000" b="0" dirty="0" err="1">
                <a:latin typeface="Arial" panose="020B0604020202020204" pitchFamily="34" charset="0"/>
                <a:cs typeface="Arial" panose="020B0604020202020204" pitchFamily="34" charset="0"/>
              </a:rPr>
              <a:t>SCoPE</a:t>
            </a:r>
            <a:r>
              <a:rPr lang="en-US" altLang="en-US" sz="3000" b="0" dirty="0">
                <a:latin typeface="Arial" panose="020B0604020202020204" pitchFamily="34" charset="0"/>
                <a:cs typeface="Arial" panose="020B0604020202020204" pitchFamily="34" charset="0"/>
              </a:rPr>
              <a:t>-MS overcomes these hurdles and quantifies over 1000 proteins in single mammalian cells.</a:t>
            </a:r>
          </a:p>
          <a:p>
            <a:pPr marL="457200" indent="-457200" eaLnBrk="1" hangingPunct="1">
              <a:spcAft>
                <a:spcPts val="600"/>
              </a:spcAft>
              <a:buFont typeface="Wingdings" panose="05000000000000000000" pitchFamily="2" charset="2"/>
              <a:buChar char="§"/>
            </a:pPr>
            <a:r>
              <a:rPr lang="en-US" altLang="en-US" sz="3000" b="0" dirty="0">
                <a:latin typeface="Arial" panose="020B0604020202020204" pitchFamily="34" charset="0"/>
                <a:cs typeface="Arial" panose="020B0604020202020204" pitchFamily="34" charset="0"/>
              </a:rPr>
              <a:t>Comparison with mRNA data indicates coordinated mRNA and protein covariation.</a:t>
            </a:r>
          </a:p>
        </p:txBody>
      </p:sp>
      <p:sp>
        <p:nvSpPr>
          <p:cNvPr id="3081" name="TextBox 185"/>
          <p:cNvSpPr txBox="1">
            <a:spLocks noChangeArrowheads="1"/>
          </p:cNvSpPr>
          <p:nvPr/>
        </p:nvSpPr>
        <p:spPr bwMode="auto">
          <a:xfrm>
            <a:off x="28453556" y="25450800"/>
            <a:ext cx="14720888" cy="2446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2000" b="1">
                <a:solidFill>
                  <a:schemeClr val="tx1"/>
                </a:solidFill>
                <a:latin typeface="Times" panose="02020603050405020304" pitchFamily="18" charset="0"/>
                <a:ea typeface="MS PGothic" panose="020B0600070205080204" pitchFamily="34" charset="-128"/>
              </a:defRPr>
            </a:lvl1pPr>
            <a:lvl2pPr marL="742950" indent="-285750" eaLnBrk="0" hangingPunct="0">
              <a:defRPr sz="2000" b="1">
                <a:solidFill>
                  <a:schemeClr val="tx1"/>
                </a:solidFill>
                <a:latin typeface="Times" panose="02020603050405020304" pitchFamily="18" charset="0"/>
                <a:ea typeface="MS PGothic" panose="020B0600070205080204" pitchFamily="34" charset="-128"/>
              </a:defRPr>
            </a:lvl2pPr>
            <a:lvl3pPr marL="1143000" indent="-228600" eaLnBrk="0" hangingPunct="0">
              <a:defRPr sz="2000" b="1">
                <a:solidFill>
                  <a:schemeClr val="tx1"/>
                </a:solidFill>
                <a:latin typeface="Times" panose="02020603050405020304" pitchFamily="18" charset="0"/>
                <a:ea typeface="MS PGothic" panose="020B0600070205080204" pitchFamily="34" charset="-128"/>
              </a:defRPr>
            </a:lvl3pPr>
            <a:lvl4pPr marL="1600200" indent="-228600" eaLnBrk="0" hangingPunct="0">
              <a:defRPr sz="2000" b="1">
                <a:solidFill>
                  <a:schemeClr val="tx1"/>
                </a:solidFill>
                <a:latin typeface="Times" panose="02020603050405020304" pitchFamily="18" charset="0"/>
                <a:ea typeface="MS PGothic" panose="020B0600070205080204" pitchFamily="34" charset="-128"/>
              </a:defRPr>
            </a:lvl4pPr>
            <a:lvl5pPr marL="2057400" indent="-228600" eaLnBrk="0" hangingPunct="0">
              <a:defRPr sz="2000" b="1">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9pPr>
          </a:lstStyle>
          <a:p>
            <a:pPr eaLnBrk="1" hangingPunct="1">
              <a:spcAft>
                <a:spcPts val="1800"/>
              </a:spcAft>
            </a:pPr>
            <a:r>
              <a:rPr lang="en-US" altLang="en-US" sz="4800" dirty="0">
                <a:solidFill>
                  <a:srgbClr val="005A9B"/>
                </a:solidFill>
                <a:latin typeface="Arial" panose="020B0604020202020204" pitchFamily="34" charset="0"/>
                <a:cs typeface="Arial" panose="020B0604020202020204" pitchFamily="34" charset="0"/>
              </a:rPr>
              <a:t>Conclusion</a:t>
            </a:r>
            <a:endParaRPr lang="en-US" altLang="en-US" sz="4800" b="0" dirty="0">
              <a:latin typeface="Arial" panose="020B0604020202020204" pitchFamily="34" charset="0"/>
              <a:cs typeface="Arial" panose="020B0604020202020204" pitchFamily="34" charset="0"/>
            </a:endParaRPr>
          </a:p>
          <a:p>
            <a:pPr eaLnBrk="1" hangingPunct="1">
              <a:spcAft>
                <a:spcPts val="1800"/>
              </a:spcAft>
            </a:pPr>
            <a:r>
              <a:rPr lang="en-US" altLang="en-US" sz="3200" b="0" dirty="0">
                <a:latin typeface="Arial" panose="020B0604020202020204" pitchFamily="34" charset="0"/>
                <a:cs typeface="Arial" panose="020B0604020202020204" pitchFamily="34" charset="0"/>
              </a:rPr>
              <a:t> </a:t>
            </a:r>
            <a:r>
              <a:rPr lang="en-US" altLang="en-US" sz="3200" b="0" dirty="0" err="1">
                <a:latin typeface="Arial" panose="020B0604020202020204" pitchFamily="34" charset="0"/>
                <a:cs typeface="Arial" panose="020B0604020202020204" pitchFamily="34" charset="0"/>
              </a:rPr>
              <a:t>SCoPE</a:t>
            </a:r>
            <a:r>
              <a:rPr lang="en-US" altLang="en-US" sz="3200" b="0" dirty="0">
                <a:latin typeface="Arial" panose="020B0604020202020204" pitchFamily="34" charset="0"/>
                <a:cs typeface="Arial" panose="020B0604020202020204" pitchFamily="34" charset="0"/>
              </a:rPr>
              <a:t>-MS is broadly applicable to measuring proteome configurations of single cells and linking them to functional phenotypes, such as cell type and differentiation potentials.</a:t>
            </a:r>
          </a:p>
        </p:txBody>
      </p:sp>
      <p:pic>
        <p:nvPicPr>
          <p:cNvPr id="621" name="Picture 6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63339" y="829607"/>
            <a:ext cx="2648868" cy="2580066"/>
          </a:xfrm>
          <a:prstGeom prst="rect">
            <a:avLst/>
          </a:prstGeom>
        </p:spPr>
      </p:pic>
      <p:pic>
        <p:nvPicPr>
          <p:cNvPr id="622" name="Picture 6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52048" y="27978740"/>
            <a:ext cx="3358152" cy="3358152"/>
          </a:xfrm>
          <a:prstGeom prst="rect">
            <a:avLst/>
          </a:prstGeom>
        </p:spPr>
      </p:pic>
      <p:sp>
        <p:nvSpPr>
          <p:cNvPr id="623" name="TextBox 185"/>
          <p:cNvSpPr txBox="1">
            <a:spLocks noChangeArrowheads="1"/>
          </p:cNvSpPr>
          <p:nvPr/>
        </p:nvSpPr>
        <p:spPr bwMode="auto">
          <a:xfrm>
            <a:off x="564271" y="18639472"/>
            <a:ext cx="1308437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2000" b="1">
                <a:solidFill>
                  <a:schemeClr val="tx1"/>
                </a:solidFill>
                <a:latin typeface="Times" panose="02020603050405020304" pitchFamily="18" charset="0"/>
                <a:ea typeface="MS PGothic" panose="020B0600070205080204" pitchFamily="34" charset="-128"/>
              </a:defRPr>
            </a:lvl1pPr>
            <a:lvl2pPr marL="742950" indent="-285750" eaLnBrk="0" hangingPunct="0">
              <a:defRPr sz="2000" b="1">
                <a:solidFill>
                  <a:schemeClr val="tx1"/>
                </a:solidFill>
                <a:latin typeface="Times" panose="02020603050405020304" pitchFamily="18" charset="0"/>
                <a:ea typeface="MS PGothic" panose="020B0600070205080204" pitchFamily="34" charset="-128"/>
              </a:defRPr>
            </a:lvl2pPr>
            <a:lvl3pPr marL="1143000" indent="-228600" eaLnBrk="0" hangingPunct="0">
              <a:defRPr sz="2000" b="1">
                <a:solidFill>
                  <a:schemeClr val="tx1"/>
                </a:solidFill>
                <a:latin typeface="Times" panose="02020603050405020304" pitchFamily="18" charset="0"/>
                <a:ea typeface="MS PGothic" panose="020B0600070205080204" pitchFamily="34" charset="-128"/>
              </a:defRPr>
            </a:lvl3pPr>
            <a:lvl4pPr marL="1600200" indent="-228600" eaLnBrk="0" hangingPunct="0">
              <a:defRPr sz="2000" b="1">
                <a:solidFill>
                  <a:schemeClr val="tx1"/>
                </a:solidFill>
                <a:latin typeface="Times" panose="02020603050405020304" pitchFamily="18" charset="0"/>
                <a:ea typeface="MS PGothic" panose="020B0600070205080204" pitchFamily="34" charset="-128"/>
              </a:defRPr>
            </a:lvl4pPr>
            <a:lvl5pPr marL="2057400" indent="-228600" eaLnBrk="0" hangingPunct="0">
              <a:defRPr sz="2000" b="1">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9pPr>
          </a:lstStyle>
          <a:p>
            <a:pPr eaLnBrk="1" hangingPunct="1">
              <a:spcAft>
                <a:spcPts val="1800"/>
              </a:spcAft>
            </a:pPr>
            <a:r>
              <a:rPr lang="en-US" altLang="en-US" sz="4800" dirty="0">
                <a:solidFill>
                  <a:srgbClr val="005A9B"/>
                </a:solidFill>
                <a:latin typeface="Arial" panose="020B0604020202020204" pitchFamily="34" charset="0"/>
                <a:cs typeface="Arial" panose="020B0604020202020204" pitchFamily="34" charset="0"/>
              </a:rPr>
              <a:t>TMT and carrier channel enable separation of peptide quantitation and identification</a:t>
            </a:r>
            <a:endParaRPr lang="en-US" altLang="en-US" sz="4800" b="0" dirty="0">
              <a:latin typeface="Arial" panose="020B0604020202020204" pitchFamily="34" charset="0"/>
              <a:cs typeface="Arial" panose="020B0604020202020204" pitchFamily="34" charset="0"/>
            </a:endParaRPr>
          </a:p>
        </p:txBody>
      </p:sp>
      <p:pic>
        <p:nvPicPr>
          <p:cNvPr id="624" name="Picture 623"/>
          <p:cNvPicPr>
            <a:picLocks noChangeAspect="1"/>
          </p:cNvPicPr>
          <p:nvPr/>
        </p:nvPicPr>
        <p:blipFill rotWithShape="1">
          <a:blip r:embed="rId5" cstate="print">
            <a:extLst>
              <a:ext uri="{28A0092B-C50C-407E-A947-70E740481C1C}">
                <a14:useLocalDpi xmlns:a14="http://schemas.microsoft.com/office/drawing/2010/main" val="0"/>
              </a:ext>
            </a:extLst>
          </a:blip>
          <a:srcRect r="36730"/>
          <a:stretch/>
        </p:blipFill>
        <p:spPr>
          <a:xfrm>
            <a:off x="2373342" y="12347742"/>
            <a:ext cx="8828058" cy="5864058"/>
          </a:xfrm>
          <a:prstGeom prst="rect">
            <a:avLst/>
          </a:prstGeom>
        </p:spPr>
      </p:pic>
      <p:sp>
        <p:nvSpPr>
          <p:cNvPr id="625" name="TextBox 185"/>
          <p:cNvSpPr txBox="1">
            <a:spLocks noChangeArrowheads="1"/>
          </p:cNvSpPr>
          <p:nvPr/>
        </p:nvSpPr>
        <p:spPr bwMode="auto">
          <a:xfrm>
            <a:off x="28498800" y="28270200"/>
            <a:ext cx="11653248" cy="3370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2000" b="1">
                <a:solidFill>
                  <a:schemeClr val="tx1"/>
                </a:solidFill>
                <a:latin typeface="Times" panose="02020603050405020304" pitchFamily="18" charset="0"/>
                <a:ea typeface="MS PGothic" panose="020B0600070205080204" pitchFamily="34" charset="-128"/>
              </a:defRPr>
            </a:lvl1pPr>
            <a:lvl2pPr marL="742950" indent="-285750" eaLnBrk="0" hangingPunct="0">
              <a:defRPr sz="2000" b="1">
                <a:solidFill>
                  <a:schemeClr val="tx1"/>
                </a:solidFill>
                <a:latin typeface="Times" panose="02020603050405020304" pitchFamily="18" charset="0"/>
                <a:ea typeface="MS PGothic" panose="020B0600070205080204" pitchFamily="34" charset="-128"/>
              </a:defRPr>
            </a:lvl2pPr>
            <a:lvl3pPr marL="1143000" indent="-228600" eaLnBrk="0" hangingPunct="0">
              <a:defRPr sz="2000" b="1">
                <a:solidFill>
                  <a:schemeClr val="tx1"/>
                </a:solidFill>
                <a:latin typeface="Times" panose="02020603050405020304" pitchFamily="18" charset="0"/>
                <a:ea typeface="MS PGothic" panose="020B0600070205080204" pitchFamily="34" charset="-128"/>
              </a:defRPr>
            </a:lvl3pPr>
            <a:lvl4pPr marL="1600200" indent="-228600" eaLnBrk="0" hangingPunct="0">
              <a:defRPr sz="2000" b="1">
                <a:solidFill>
                  <a:schemeClr val="tx1"/>
                </a:solidFill>
                <a:latin typeface="Times" panose="02020603050405020304" pitchFamily="18" charset="0"/>
                <a:ea typeface="MS PGothic" panose="020B0600070205080204" pitchFamily="34" charset="-128"/>
              </a:defRPr>
            </a:lvl4pPr>
            <a:lvl5pPr marL="2057400" indent="-228600" eaLnBrk="0" hangingPunct="0">
              <a:defRPr sz="2000" b="1">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9pPr>
          </a:lstStyle>
          <a:p>
            <a:pPr eaLnBrk="1" hangingPunct="1">
              <a:spcAft>
                <a:spcPts val="1800"/>
              </a:spcAft>
            </a:pPr>
            <a:r>
              <a:rPr lang="en-US" altLang="en-US" sz="4800" dirty="0">
                <a:solidFill>
                  <a:srgbClr val="005A9B"/>
                </a:solidFill>
                <a:latin typeface="Arial" panose="020B0604020202020204" pitchFamily="34" charset="0"/>
                <a:cs typeface="Arial" panose="020B0604020202020204" pitchFamily="34" charset="0"/>
              </a:rPr>
              <a:t>Acknowledgements </a:t>
            </a:r>
          </a:p>
          <a:p>
            <a:pPr eaLnBrk="1" hangingPunct="1">
              <a:spcAft>
                <a:spcPts val="1800"/>
              </a:spcAft>
            </a:pPr>
            <a:r>
              <a:rPr lang="en-US" altLang="en-US" sz="2600" b="0" dirty="0">
                <a:latin typeface="Arial" panose="020B0604020202020204" pitchFamily="34" charset="0"/>
                <a:cs typeface="Arial" panose="020B0604020202020204" pitchFamily="34" charset="0"/>
              </a:rPr>
              <a:t>We thank S. </a:t>
            </a:r>
            <a:r>
              <a:rPr lang="en-US" altLang="en-US" sz="2600" b="0" dirty="0" err="1">
                <a:latin typeface="Arial" panose="020B0604020202020204" pitchFamily="34" charset="0"/>
                <a:cs typeface="Arial" panose="020B0604020202020204" pitchFamily="34" charset="0"/>
              </a:rPr>
              <a:t>Semrau</a:t>
            </a:r>
            <a:r>
              <a:rPr lang="en-US" altLang="en-US" sz="2600" b="0" dirty="0">
                <a:latin typeface="Arial" panose="020B0604020202020204" pitchFamily="34" charset="0"/>
                <a:cs typeface="Arial" panose="020B0604020202020204" pitchFamily="34" charset="0"/>
              </a:rPr>
              <a:t>, M. </a:t>
            </a:r>
            <a:r>
              <a:rPr lang="en-US" altLang="en-US" sz="2600" b="0" dirty="0" err="1">
                <a:latin typeface="Arial" panose="020B0604020202020204" pitchFamily="34" charset="0"/>
                <a:cs typeface="Arial" panose="020B0604020202020204" pitchFamily="34" charset="0"/>
              </a:rPr>
              <a:t>Jovanovic</a:t>
            </a:r>
            <a:r>
              <a:rPr lang="en-US" altLang="en-US" sz="2600" b="0" dirty="0">
                <a:latin typeface="Arial" panose="020B0604020202020204" pitchFamily="34" charset="0"/>
                <a:cs typeface="Arial" panose="020B0604020202020204" pitchFamily="34" charset="0"/>
              </a:rPr>
              <a:t>, R. </a:t>
            </a:r>
            <a:r>
              <a:rPr lang="en-US" altLang="en-US" sz="2600" b="0" dirty="0" err="1">
                <a:latin typeface="Arial" panose="020B0604020202020204" pitchFamily="34" charset="0"/>
                <a:cs typeface="Arial" panose="020B0604020202020204" pitchFamily="34" charset="0"/>
              </a:rPr>
              <a:t>Zubarev</a:t>
            </a:r>
            <a:r>
              <a:rPr lang="en-US" altLang="en-US" sz="2600" b="0" dirty="0">
                <a:latin typeface="Arial" panose="020B0604020202020204" pitchFamily="34" charset="0"/>
                <a:cs typeface="Arial" panose="020B0604020202020204" pitchFamily="34" charset="0"/>
              </a:rPr>
              <a:t>, and members of the </a:t>
            </a:r>
            <a:r>
              <a:rPr lang="en-US" altLang="en-US" sz="2600" b="0" dirty="0" err="1">
                <a:latin typeface="Arial" panose="020B0604020202020204" pitchFamily="34" charset="0"/>
                <a:cs typeface="Arial" panose="020B0604020202020204" pitchFamily="34" charset="0"/>
              </a:rPr>
              <a:t>Slavov</a:t>
            </a:r>
            <a:r>
              <a:rPr lang="en-US" altLang="en-US" sz="2600" b="0" dirty="0">
                <a:latin typeface="Arial" panose="020B0604020202020204" pitchFamily="34" charset="0"/>
                <a:cs typeface="Arial" panose="020B0604020202020204" pitchFamily="34" charset="0"/>
              </a:rPr>
              <a:t> laboratory for discussions and constructive comments, as well as the Harvard University FAS Science Operations for supporting this research project. This work was funded by startup funds from Northeastern University and a New Innovator Award from the NIGMS from the National Institutes of Health to N.S. under Award Number DP2GM123497.</a:t>
            </a:r>
          </a:p>
        </p:txBody>
      </p:sp>
      <p:pic>
        <p:nvPicPr>
          <p:cNvPr id="626" name="Picture 62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114644" y="25538971"/>
            <a:ext cx="7306956" cy="6388829"/>
          </a:xfrm>
          <a:prstGeom prst="rect">
            <a:avLst/>
          </a:prstGeom>
        </p:spPr>
      </p:pic>
      <p:pic>
        <p:nvPicPr>
          <p:cNvPr id="627" name="Picture 62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0631294" y="25569146"/>
            <a:ext cx="7241334" cy="6358654"/>
          </a:xfrm>
          <a:prstGeom prst="rect">
            <a:avLst/>
          </a:prstGeom>
        </p:spPr>
      </p:pic>
      <p:pic>
        <p:nvPicPr>
          <p:cNvPr id="629" name="Picture 62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05600" y="25901126"/>
            <a:ext cx="5213623" cy="4502674"/>
          </a:xfrm>
          <a:prstGeom prst="rect">
            <a:avLst/>
          </a:prstGeom>
        </p:spPr>
      </p:pic>
      <p:pic>
        <p:nvPicPr>
          <p:cNvPr id="630" name="Picture 62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12577" y="25917044"/>
            <a:ext cx="5283423" cy="4562956"/>
          </a:xfrm>
          <a:prstGeom prst="rect">
            <a:avLst/>
          </a:prstGeom>
        </p:spPr>
      </p:pic>
      <p:pic>
        <p:nvPicPr>
          <p:cNvPr id="631" name="Picture 630"/>
          <p:cNvPicPr>
            <a:picLocks noChangeAspect="1"/>
          </p:cNvPicPr>
          <p:nvPr/>
        </p:nvPicPr>
        <p:blipFill rotWithShape="1">
          <a:blip r:embed="rId5" cstate="print">
            <a:extLst>
              <a:ext uri="{28A0092B-C50C-407E-A947-70E740481C1C}">
                <a14:useLocalDpi xmlns:a14="http://schemas.microsoft.com/office/drawing/2010/main" val="0"/>
              </a:ext>
            </a:extLst>
          </a:blip>
          <a:srcRect l="62291"/>
          <a:stretch/>
        </p:blipFill>
        <p:spPr>
          <a:xfrm>
            <a:off x="12954000" y="16916400"/>
            <a:ext cx="7480540" cy="8337305"/>
          </a:xfrm>
          <a:prstGeom prst="rect">
            <a:avLst/>
          </a:prstGeom>
        </p:spPr>
      </p:pic>
      <p:pic>
        <p:nvPicPr>
          <p:cNvPr id="634" name="Picture 63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8884972" y="10982559"/>
            <a:ext cx="7578367" cy="5210127"/>
          </a:xfrm>
          <a:prstGeom prst="rect">
            <a:avLst/>
          </a:prstGeom>
        </p:spPr>
      </p:pic>
      <p:pic>
        <p:nvPicPr>
          <p:cNvPr id="635" name="Picture 63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8664472" y="19007086"/>
            <a:ext cx="6931754" cy="5986514"/>
          </a:xfrm>
          <a:prstGeom prst="rect">
            <a:avLst/>
          </a:prstGeom>
        </p:spPr>
      </p:pic>
      <p:pic>
        <p:nvPicPr>
          <p:cNvPr id="636" name="Picture 635"/>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5993790" y="5410200"/>
            <a:ext cx="7745010" cy="5324694"/>
          </a:xfrm>
          <a:prstGeom prst="rect">
            <a:avLst/>
          </a:prstGeom>
        </p:spPr>
      </p:pic>
      <p:pic>
        <p:nvPicPr>
          <p:cNvPr id="637" name="Picture 636"/>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218369" y="5452816"/>
            <a:ext cx="7748031" cy="5326771"/>
          </a:xfrm>
          <a:prstGeom prst="rect">
            <a:avLst/>
          </a:prstGeom>
        </p:spPr>
      </p:pic>
      <p:pic>
        <p:nvPicPr>
          <p:cNvPr id="4" name="Picture 3"/>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0005915" y="689811"/>
            <a:ext cx="2807744" cy="2875130"/>
          </a:xfrm>
          <a:prstGeom prst="rect">
            <a:avLst/>
          </a:prstGeom>
        </p:spPr>
      </p:pic>
      <p:pic>
        <p:nvPicPr>
          <p:cNvPr id="649" name="Picture 64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5855782" y="18656594"/>
            <a:ext cx="7425818" cy="6413206"/>
          </a:xfrm>
          <a:prstGeom prst="rect">
            <a:avLst/>
          </a:prstGeom>
        </p:spPr>
      </p:pic>
      <p:sp>
        <p:nvSpPr>
          <p:cNvPr id="650" name="TextBox 185"/>
          <p:cNvSpPr txBox="1">
            <a:spLocks noChangeArrowheads="1"/>
          </p:cNvSpPr>
          <p:nvPr/>
        </p:nvSpPr>
        <p:spPr bwMode="auto">
          <a:xfrm>
            <a:off x="13734778" y="15439072"/>
            <a:ext cx="14002021"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2000" b="1">
                <a:solidFill>
                  <a:schemeClr val="tx1"/>
                </a:solidFill>
                <a:latin typeface="Times" panose="02020603050405020304" pitchFamily="18" charset="0"/>
                <a:ea typeface="MS PGothic" panose="020B0600070205080204" pitchFamily="34" charset="-128"/>
              </a:defRPr>
            </a:lvl1pPr>
            <a:lvl2pPr marL="742950" indent="-285750" eaLnBrk="0" hangingPunct="0">
              <a:defRPr sz="2000" b="1">
                <a:solidFill>
                  <a:schemeClr val="tx1"/>
                </a:solidFill>
                <a:latin typeface="Times" panose="02020603050405020304" pitchFamily="18" charset="0"/>
                <a:ea typeface="MS PGothic" panose="020B0600070205080204" pitchFamily="34" charset="-128"/>
              </a:defRPr>
            </a:lvl2pPr>
            <a:lvl3pPr marL="1143000" indent="-228600" eaLnBrk="0" hangingPunct="0">
              <a:defRPr sz="2000" b="1">
                <a:solidFill>
                  <a:schemeClr val="tx1"/>
                </a:solidFill>
                <a:latin typeface="Times" panose="02020603050405020304" pitchFamily="18" charset="0"/>
                <a:ea typeface="MS PGothic" panose="020B0600070205080204" pitchFamily="34" charset="-128"/>
              </a:defRPr>
            </a:lvl3pPr>
            <a:lvl4pPr marL="1600200" indent="-228600" eaLnBrk="0" hangingPunct="0">
              <a:defRPr sz="2000" b="1">
                <a:solidFill>
                  <a:schemeClr val="tx1"/>
                </a:solidFill>
                <a:latin typeface="Times" panose="02020603050405020304" pitchFamily="18" charset="0"/>
                <a:ea typeface="MS PGothic" panose="020B0600070205080204" pitchFamily="34" charset="-128"/>
              </a:defRPr>
            </a:lvl4pPr>
            <a:lvl5pPr marL="2057400" indent="-228600" eaLnBrk="0" hangingPunct="0">
              <a:defRPr sz="2000" b="1">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9pPr>
          </a:lstStyle>
          <a:p>
            <a:pPr eaLnBrk="1" hangingPunct="1">
              <a:spcAft>
                <a:spcPts val="1800"/>
              </a:spcAft>
            </a:pPr>
            <a:r>
              <a:rPr lang="en-US" altLang="en-US" sz="4800" dirty="0">
                <a:solidFill>
                  <a:srgbClr val="005A9B"/>
                </a:solidFill>
                <a:latin typeface="Arial" panose="020B0604020202020204" pitchFamily="34" charset="0"/>
                <a:cs typeface="Arial" panose="020B0604020202020204" pitchFamily="34" charset="0"/>
              </a:rPr>
              <a:t>Reproducible relative quantitation allows separation of mammalian cell types</a:t>
            </a:r>
            <a:endParaRPr lang="en-US" altLang="en-US" sz="4800" b="0" dirty="0">
              <a:latin typeface="Arial" panose="020B0604020202020204" pitchFamily="34" charset="0"/>
              <a:cs typeface="Arial" panose="020B0604020202020204" pitchFamily="34" charset="0"/>
            </a:endParaRPr>
          </a:p>
        </p:txBody>
      </p:sp>
      <p:sp>
        <p:nvSpPr>
          <p:cNvPr id="651" name="TextBox 185"/>
          <p:cNvSpPr txBox="1">
            <a:spLocks noChangeArrowheads="1"/>
          </p:cNvSpPr>
          <p:nvPr/>
        </p:nvSpPr>
        <p:spPr bwMode="auto">
          <a:xfrm>
            <a:off x="28626936" y="16529209"/>
            <a:ext cx="14959464"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2000" b="1">
                <a:solidFill>
                  <a:schemeClr val="tx1"/>
                </a:solidFill>
                <a:latin typeface="Times" panose="02020603050405020304" pitchFamily="18" charset="0"/>
                <a:ea typeface="MS PGothic" panose="020B0600070205080204" pitchFamily="34" charset="-128"/>
              </a:defRPr>
            </a:lvl1pPr>
            <a:lvl2pPr marL="742950" indent="-285750" eaLnBrk="0" hangingPunct="0">
              <a:defRPr sz="2000" b="1">
                <a:solidFill>
                  <a:schemeClr val="tx1"/>
                </a:solidFill>
                <a:latin typeface="Times" panose="02020603050405020304" pitchFamily="18" charset="0"/>
                <a:ea typeface="MS PGothic" panose="020B0600070205080204" pitchFamily="34" charset="-128"/>
              </a:defRPr>
            </a:lvl2pPr>
            <a:lvl3pPr marL="1143000" indent="-228600" eaLnBrk="0" hangingPunct="0">
              <a:defRPr sz="2000" b="1">
                <a:solidFill>
                  <a:schemeClr val="tx1"/>
                </a:solidFill>
                <a:latin typeface="Times" panose="02020603050405020304" pitchFamily="18" charset="0"/>
                <a:ea typeface="MS PGothic" panose="020B0600070205080204" pitchFamily="34" charset="-128"/>
              </a:defRPr>
            </a:lvl3pPr>
            <a:lvl4pPr marL="1600200" indent="-228600" eaLnBrk="0" hangingPunct="0">
              <a:defRPr sz="2000" b="1">
                <a:solidFill>
                  <a:schemeClr val="tx1"/>
                </a:solidFill>
                <a:latin typeface="Times" panose="02020603050405020304" pitchFamily="18" charset="0"/>
                <a:ea typeface="MS PGothic" panose="020B0600070205080204" pitchFamily="34" charset="-128"/>
              </a:defRPr>
            </a:lvl4pPr>
            <a:lvl5pPr marL="2057400" indent="-228600" eaLnBrk="0" hangingPunct="0">
              <a:defRPr sz="2000" b="1">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9pPr>
          </a:lstStyle>
          <a:p>
            <a:pPr eaLnBrk="1" hangingPunct="1">
              <a:spcAft>
                <a:spcPts val="1800"/>
              </a:spcAft>
            </a:pPr>
            <a:r>
              <a:rPr lang="en-US" altLang="en-US" sz="4800" dirty="0">
                <a:solidFill>
                  <a:srgbClr val="005A9B"/>
                </a:solidFill>
                <a:latin typeface="Arial" panose="020B0604020202020204" pitchFamily="34" charset="0"/>
                <a:cs typeface="Arial" panose="020B0604020202020204" pitchFamily="34" charset="0"/>
              </a:rPr>
              <a:t>Concordance between single cell mRNA and protein correlations suggests covariation for certain cellular functions </a:t>
            </a:r>
            <a:endParaRPr lang="en-US" altLang="en-US" sz="4800" b="0" dirty="0">
              <a:latin typeface="Arial" panose="020B0604020202020204" pitchFamily="34" charset="0"/>
              <a:cs typeface="Arial" panose="020B0604020202020204" pitchFamily="34" charset="0"/>
            </a:endParaRPr>
          </a:p>
        </p:txBody>
      </p:sp>
      <p:sp>
        <p:nvSpPr>
          <p:cNvPr id="652" name="TextBox 185"/>
          <p:cNvSpPr txBox="1">
            <a:spLocks noChangeArrowheads="1"/>
          </p:cNvSpPr>
          <p:nvPr/>
        </p:nvSpPr>
        <p:spPr bwMode="auto">
          <a:xfrm>
            <a:off x="526772" y="11085135"/>
            <a:ext cx="12392327"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2000" b="1">
                <a:solidFill>
                  <a:schemeClr val="tx1"/>
                </a:solidFill>
                <a:latin typeface="Times" panose="02020603050405020304" pitchFamily="18" charset="0"/>
                <a:ea typeface="MS PGothic" panose="020B0600070205080204" pitchFamily="34" charset="-128"/>
              </a:defRPr>
            </a:lvl1pPr>
            <a:lvl2pPr marL="742950" indent="-285750" eaLnBrk="0" hangingPunct="0">
              <a:defRPr sz="2000" b="1">
                <a:solidFill>
                  <a:schemeClr val="tx1"/>
                </a:solidFill>
                <a:latin typeface="Times" panose="02020603050405020304" pitchFamily="18" charset="0"/>
                <a:ea typeface="MS PGothic" panose="020B0600070205080204" pitchFamily="34" charset="-128"/>
              </a:defRPr>
            </a:lvl2pPr>
            <a:lvl3pPr marL="1143000" indent="-228600" eaLnBrk="0" hangingPunct="0">
              <a:defRPr sz="2000" b="1">
                <a:solidFill>
                  <a:schemeClr val="tx1"/>
                </a:solidFill>
                <a:latin typeface="Times" panose="02020603050405020304" pitchFamily="18" charset="0"/>
                <a:ea typeface="MS PGothic" panose="020B0600070205080204" pitchFamily="34" charset="-128"/>
              </a:defRPr>
            </a:lvl3pPr>
            <a:lvl4pPr marL="1600200" indent="-228600" eaLnBrk="0" hangingPunct="0">
              <a:defRPr sz="2000" b="1">
                <a:solidFill>
                  <a:schemeClr val="tx1"/>
                </a:solidFill>
                <a:latin typeface="Times" panose="02020603050405020304" pitchFamily="18" charset="0"/>
                <a:ea typeface="MS PGothic" panose="020B0600070205080204" pitchFamily="34" charset="-128"/>
              </a:defRPr>
            </a:lvl4pPr>
            <a:lvl5pPr marL="2057400" indent="-228600" eaLnBrk="0" hangingPunct="0">
              <a:defRPr sz="2000" b="1">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9pPr>
          </a:lstStyle>
          <a:p>
            <a:pPr eaLnBrk="1" hangingPunct="1">
              <a:spcAft>
                <a:spcPts val="1800"/>
              </a:spcAft>
            </a:pPr>
            <a:r>
              <a:rPr lang="en-US" altLang="en-US" sz="4800" dirty="0">
                <a:solidFill>
                  <a:srgbClr val="005A9B"/>
                </a:solidFill>
                <a:latin typeface="Arial" panose="020B0604020202020204" pitchFamily="34" charset="0"/>
                <a:cs typeface="Arial" panose="020B0604020202020204" pitchFamily="34" charset="0"/>
              </a:rPr>
              <a:t>Carrier channel minimizes losses in sample preparation</a:t>
            </a:r>
            <a:endParaRPr lang="en-US" altLang="en-US" sz="4800" b="0" dirty="0">
              <a:latin typeface="Arial" panose="020B0604020202020204" pitchFamily="34" charset="0"/>
              <a:cs typeface="Arial" panose="020B0604020202020204" pitchFamily="34" charset="0"/>
            </a:endParaRPr>
          </a:p>
        </p:txBody>
      </p:sp>
      <p:sp>
        <p:nvSpPr>
          <p:cNvPr id="653" name="TextBox 185"/>
          <p:cNvSpPr txBox="1">
            <a:spLocks noChangeArrowheads="1"/>
          </p:cNvSpPr>
          <p:nvPr/>
        </p:nvSpPr>
        <p:spPr bwMode="auto">
          <a:xfrm>
            <a:off x="13734779" y="4343399"/>
            <a:ext cx="1393721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2000" b="1">
                <a:solidFill>
                  <a:schemeClr val="tx1"/>
                </a:solidFill>
                <a:latin typeface="Times" panose="02020603050405020304" pitchFamily="18" charset="0"/>
                <a:ea typeface="MS PGothic" panose="020B0600070205080204" pitchFamily="34" charset="-128"/>
              </a:defRPr>
            </a:lvl1pPr>
            <a:lvl2pPr marL="742950" indent="-285750" eaLnBrk="0" hangingPunct="0">
              <a:defRPr sz="2000" b="1">
                <a:solidFill>
                  <a:schemeClr val="tx1"/>
                </a:solidFill>
                <a:latin typeface="Times" panose="02020603050405020304" pitchFamily="18" charset="0"/>
                <a:ea typeface="MS PGothic" panose="020B0600070205080204" pitchFamily="34" charset="-128"/>
              </a:defRPr>
            </a:lvl2pPr>
            <a:lvl3pPr marL="1143000" indent="-228600" eaLnBrk="0" hangingPunct="0">
              <a:defRPr sz="2000" b="1">
                <a:solidFill>
                  <a:schemeClr val="tx1"/>
                </a:solidFill>
                <a:latin typeface="Times" panose="02020603050405020304" pitchFamily="18" charset="0"/>
                <a:ea typeface="MS PGothic" panose="020B0600070205080204" pitchFamily="34" charset="-128"/>
              </a:defRPr>
            </a:lvl3pPr>
            <a:lvl4pPr marL="1600200" indent="-228600" eaLnBrk="0" hangingPunct="0">
              <a:defRPr sz="2000" b="1">
                <a:solidFill>
                  <a:schemeClr val="tx1"/>
                </a:solidFill>
                <a:latin typeface="Times" panose="02020603050405020304" pitchFamily="18" charset="0"/>
                <a:ea typeface="MS PGothic" panose="020B0600070205080204" pitchFamily="34" charset="-128"/>
              </a:defRPr>
            </a:lvl4pPr>
            <a:lvl5pPr marL="2057400" indent="-228600" eaLnBrk="0" hangingPunct="0">
              <a:defRPr sz="2000" b="1">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9pPr>
          </a:lstStyle>
          <a:p>
            <a:pPr eaLnBrk="1" hangingPunct="1">
              <a:spcAft>
                <a:spcPts val="1800"/>
              </a:spcAft>
            </a:pPr>
            <a:r>
              <a:rPr lang="en-US" altLang="en-US" sz="4800" dirty="0">
                <a:solidFill>
                  <a:srgbClr val="005A9B"/>
                </a:solidFill>
                <a:latin typeface="Arial" panose="020B0604020202020204" pitchFamily="34" charset="0"/>
                <a:cs typeface="Arial" panose="020B0604020202020204" pitchFamily="34" charset="0"/>
              </a:rPr>
              <a:t>Comparison to bulk proteomic measurements</a:t>
            </a:r>
            <a:endParaRPr lang="en-US" altLang="en-US" sz="4800" b="0" dirty="0">
              <a:latin typeface="Arial" panose="020B0604020202020204" pitchFamily="34" charset="0"/>
              <a:cs typeface="Arial" panose="020B0604020202020204" pitchFamily="34" charset="0"/>
            </a:endParaRPr>
          </a:p>
        </p:txBody>
      </p:sp>
      <p:sp>
        <p:nvSpPr>
          <p:cNvPr id="668" name="TextBox 185"/>
          <p:cNvSpPr txBox="1">
            <a:spLocks noChangeArrowheads="1"/>
          </p:cNvSpPr>
          <p:nvPr/>
        </p:nvSpPr>
        <p:spPr bwMode="auto">
          <a:xfrm>
            <a:off x="609600" y="24202072"/>
            <a:ext cx="12057525"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2000" b="1">
                <a:solidFill>
                  <a:schemeClr val="tx1"/>
                </a:solidFill>
                <a:latin typeface="Times" panose="02020603050405020304" pitchFamily="18" charset="0"/>
                <a:ea typeface="MS PGothic" panose="020B0600070205080204" pitchFamily="34" charset="-128"/>
              </a:defRPr>
            </a:lvl1pPr>
            <a:lvl2pPr marL="742950" indent="-285750" eaLnBrk="0" hangingPunct="0">
              <a:defRPr sz="2000" b="1">
                <a:solidFill>
                  <a:schemeClr val="tx1"/>
                </a:solidFill>
                <a:latin typeface="Times" panose="02020603050405020304" pitchFamily="18" charset="0"/>
                <a:ea typeface="MS PGothic" panose="020B0600070205080204" pitchFamily="34" charset="-128"/>
              </a:defRPr>
            </a:lvl2pPr>
            <a:lvl3pPr marL="1143000" indent="-228600" eaLnBrk="0" hangingPunct="0">
              <a:defRPr sz="2000" b="1">
                <a:solidFill>
                  <a:schemeClr val="tx1"/>
                </a:solidFill>
                <a:latin typeface="Times" panose="02020603050405020304" pitchFamily="18" charset="0"/>
                <a:ea typeface="MS PGothic" panose="020B0600070205080204" pitchFamily="34" charset="-128"/>
              </a:defRPr>
            </a:lvl3pPr>
            <a:lvl4pPr marL="1600200" indent="-228600" eaLnBrk="0" hangingPunct="0">
              <a:defRPr sz="2000" b="1">
                <a:solidFill>
                  <a:schemeClr val="tx1"/>
                </a:solidFill>
                <a:latin typeface="Times" panose="02020603050405020304" pitchFamily="18" charset="0"/>
                <a:ea typeface="MS PGothic" panose="020B0600070205080204" pitchFamily="34" charset="-128"/>
              </a:defRPr>
            </a:lvl4pPr>
            <a:lvl5pPr marL="2057400" indent="-228600" eaLnBrk="0" hangingPunct="0">
              <a:defRPr sz="2000" b="1">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9pPr>
          </a:lstStyle>
          <a:p>
            <a:pPr eaLnBrk="1" hangingPunct="1">
              <a:spcAft>
                <a:spcPts val="1800"/>
              </a:spcAft>
            </a:pPr>
            <a:r>
              <a:rPr lang="en-US" altLang="en-US" sz="4800" dirty="0">
                <a:solidFill>
                  <a:srgbClr val="005A9B"/>
                </a:solidFill>
                <a:latin typeface="Arial" panose="020B0604020202020204" pitchFamily="34" charset="0"/>
                <a:cs typeface="Arial" panose="020B0604020202020204" pitchFamily="34" charset="0"/>
              </a:rPr>
              <a:t>Background noise is low compared to signal from peptides </a:t>
            </a:r>
            <a:endParaRPr lang="en-US" altLang="en-US" sz="4800" b="0" dirty="0">
              <a:latin typeface="Arial" panose="020B0604020202020204" pitchFamily="34" charset="0"/>
              <a:cs typeface="Arial" panose="020B0604020202020204" pitchFamily="34" charset="0"/>
            </a:endParaRPr>
          </a:p>
        </p:txBody>
      </p:sp>
      <p:sp>
        <p:nvSpPr>
          <p:cNvPr id="675" name="TextBox 185"/>
          <p:cNvSpPr txBox="1">
            <a:spLocks noChangeArrowheads="1"/>
          </p:cNvSpPr>
          <p:nvPr/>
        </p:nvSpPr>
        <p:spPr bwMode="auto">
          <a:xfrm>
            <a:off x="13779150" y="12245132"/>
            <a:ext cx="1418625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2000" b="1">
                <a:solidFill>
                  <a:schemeClr val="tx1"/>
                </a:solidFill>
                <a:latin typeface="Times" panose="02020603050405020304" pitchFamily="18" charset="0"/>
                <a:ea typeface="MS PGothic" panose="020B0600070205080204" pitchFamily="34" charset="-128"/>
              </a:defRPr>
            </a:lvl1pPr>
            <a:lvl2pPr marL="742950" indent="-285750" eaLnBrk="0" hangingPunct="0">
              <a:defRPr sz="2000" b="1">
                <a:solidFill>
                  <a:schemeClr val="tx1"/>
                </a:solidFill>
                <a:latin typeface="Times" panose="02020603050405020304" pitchFamily="18" charset="0"/>
                <a:ea typeface="MS PGothic" panose="020B0600070205080204" pitchFamily="34" charset="-128"/>
              </a:defRPr>
            </a:lvl2pPr>
            <a:lvl3pPr marL="1143000" indent="-228600" eaLnBrk="0" hangingPunct="0">
              <a:defRPr sz="2000" b="1">
                <a:solidFill>
                  <a:schemeClr val="tx1"/>
                </a:solidFill>
                <a:latin typeface="Times" panose="02020603050405020304" pitchFamily="18" charset="0"/>
                <a:ea typeface="MS PGothic" panose="020B0600070205080204" pitchFamily="34" charset="-128"/>
              </a:defRPr>
            </a:lvl3pPr>
            <a:lvl4pPr marL="1600200" indent="-228600" eaLnBrk="0" hangingPunct="0">
              <a:defRPr sz="2000" b="1">
                <a:solidFill>
                  <a:schemeClr val="tx1"/>
                </a:solidFill>
                <a:latin typeface="Times" panose="02020603050405020304" pitchFamily="18" charset="0"/>
                <a:ea typeface="MS PGothic" panose="020B0600070205080204" pitchFamily="34" charset="-128"/>
              </a:defRPr>
            </a:lvl4pPr>
            <a:lvl5pPr marL="2057400" indent="-228600" eaLnBrk="0" hangingPunct="0">
              <a:defRPr sz="2000" b="1">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9pPr>
          </a:lstStyle>
          <a:p>
            <a:pPr marL="457200" indent="-457200" eaLnBrk="1" hangingPunct="1">
              <a:spcBef>
                <a:spcPts val="600"/>
              </a:spcBef>
              <a:spcAft>
                <a:spcPts val="600"/>
              </a:spcAft>
              <a:buFont typeface="Wingdings" panose="05000000000000000000" pitchFamily="2" charset="2"/>
              <a:buChar char="§"/>
            </a:pPr>
            <a:r>
              <a:rPr lang="en-US" altLang="en-US" sz="3000" b="0" dirty="0">
                <a:latin typeface="Arial" panose="020B0604020202020204" pitchFamily="34" charset="0"/>
                <a:cs typeface="Arial" panose="020B0604020202020204" pitchFamily="34" charset="0"/>
              </a:rPr>
              <a:t>Probability of quantifying a protein by </a:t>
            </a:r>
            <a:r>
              <a:rPr lang="en-US" altLang="en-US" sz="3000" b="0" dirty="0" err="1">
                <a:latin typeface="Arial" panose="020B0604020202020204" pitchFamily="34" charset="0"/>
                <a:cs typeface="Arial" panose="020B0604020202020204" pitchFamily="34" charset="0"/>
              </a:rPr>
              <a:t>SCoPE</a:t>
            </a:r>
            <a:r>
              <a:rPr lang="en-US" altLang="en-US" sz="3000" b="0" dirty="0">
                <a:latin typeface="Arial" panose="020B0604020202020204" pitchFamily="34" charset="0"/>
                <a:cs typeface="Arial" panose="020B0604020202020204" pitchFamily="34" charset="0"/>
              </a:rPr>
              <a:t> is close to 100 % for the most abundant proteins quantified in bulk samples and decreases with protein abundance. </a:t>
            </a:r>
          </a:p>
          <a:p>
            <a:pPr marL="457200" indent="-457200" eaLnBrk="1" hangingPunct="1">
              <a:spcBef>
                <a:spcPts val="600"/>
              </a:spcBef>
              <a:spcAft>
                <a:spcPts val="600"/>
              </a:spcAft>
              <a:buFont typeface="Wingdings" panose="05000000000000000000" pitchFamily="2" charset="2"/>
              <a:buChar char="§"/>
            </a:pPr>
            <a:r>
              <a:rPr lang="en-US" altLang="en-US" sz="3000" b="0" dirty="0" err="1">
                <a:latin typeface="Arial" panose="020B0604020202020204" pitchFamily="34" charset="0"/>
                <a:cs typeface="Arial" panose="020B0604020202020204" pitchFamily="34" charset="0"/>
              </a:rPr>
              <a:t>SCoPE</a:t>
            </a:r>
            <a:r>
              <a:rPr lang="en-US" altLang="en-US" sz="3000" b="0" dirty="0">
                <a:latin typeface="Arial" panose="020B0604020202020204" pitchFamily="34" charset="0"/>
                <a:cs typeface="Arial" panose="020B0604020202020204" pitchFamily="34" charset="0"/>
              </a:rPr>
              <a:t>-MS estimates are the average from 12 </a:t>
            </a:r>
            <a:r>
              <a:rPr lang="en-US" altLang="en-US" sz="3000" b="0" dirty="0" err="1">
                <a:latin typeface="Arial" panose="020B0604020202020204" pitchFamily="34" charset="0"/>
                <a:cs typeface="Arial" panose="020B0604020202020204" pitchFamily="34" charset="0"/>
              </a:rPr>
              <a:t>Jurkat</a:t>
            </a:r>
            <a:r>
              <a:rPr lang="en-US" altLang="en-US" sz="3000" b="0" dirty="0">
                <a:latin typeface="Arial" panose="020B0604020202020204" pitchFamily="34" charset="0"/>
                <a:cs typeface="Arial" panose="020B0604020202020204" pitchFamily="34" charset="0"/>
              </a:rPr>
              <a:t> cells from the experiments described in the figure below. </a:t>
            </a:r>
          </a:p>
        </p:txBody>
      </p:sp>
      <p:sp>
        <p:nvSpPr>
          <p:cNvPr id="677" name="TextBox 185"/>
          <p:cNvSpPr txBox="1">
            <a:spLocks noChangeArrowheads="1"/>
          </p:cNvSpPr>
          <p:nvPr/>
        </p:nvSpPr>
        <p:spPr bwMode="auto">
          <a:xfrm>
            <a:off x="693485" y="30556200"/>
            <a:ext cx="11498515" cy="1923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2000" b="1">
                <a:solidFill>
                  <a:schemeClr val="tx1"/>
                </a:solidFill>
                <a:latin typeface="Times" panose="02020603050405020304" pitchFamily="18" charset="0"/>
                <a:ea typeface="MS PGothic" panose="020B0600070205080204" pitchFamily="34" charset="-128"/>
              </a:defRPr>
            </a:lvl1pPr>
            <a:lvl2pPr marL="742950" indent="-285750" eaLnBrk="0" hangingPunct="0">
              <a:defRPr sz="2000" b="1">
                <a:solidFill>
                  <a:schemeClr val="tx1"/>
                </a:solidFill>
                <a:latin typeface="Times" panose="02020603050405020304" pitchFamily="18" charset="0"/>
                <a:ea typeface="MS PGothic" panose="020B0600070205080204" pitchFamily="34" charset="-128"/>
              </a:defRPr>
            </a:lvl2pPr>
            <a:lvl3pPr marL="1143000" indent="-228600" eaLnBrk="0" hangingPunct="0">
              <a:defRPr sz="2000" b="1">
                <a:solidFill>
                  <a:schemeClr val="tx1"/>
                </a:solidFill>
                <a:latin typeface="Times" panose="02020603050405020304" pitchFamily="18" charset="0"/>
                <a:ea typeface="MS PGothic" panose="020B0600070205080204" pitchFamily="34" charset="-128"/>
              </a:defRPr>
            </a:lvl3pPr>
            <a:lvl4pPr marL="1600200" indent="-228600" eaLnBrk="0" hangingPunct="0">
              <a:defRPr sz="2000" b="1">
                <a:solidFill>
                  <a:schemeClr val="tx1"/>
                </a:solidFill>
                <a:latin typeface="Times" panose="02020603050405020304" pitchFamily="18" charset="0"/>
                <a:ea typeface="MS PGothic" panose="020B0600070205080204" pitchFamily="34" charset="-128"/>
              </a:defRPr>
            </a:lvl4pPr>
            <a:lvl5pPr marL="2057400" indent="-228600" eaLnBrk="0" hangingPunct="0">
              <a:defRPr sz="2000" b="1">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9pPr>
          </a:lstStyle>
          <a:p>
            <a:pPr marL="457200" indent="-457200" eaLnBrk="1" hangingPunct="1">
              <a:spcAft>
                <a:spcPts val="600"/>
              </a:spcAft>
              <a:buFont typeface="Wingdings" panose="05000000000000000000" pitchFamily="2" charset="2"/>
              <a:buChar char="§"/>
            </a:pPr>
            <a:r>
              <a:rPr lang="en-US" altLang="en-US" sz="3000" b="0" dirty="0">
                <a:latin typeface="Arial" panose="020B0604020202020204" pitchFamily="34" charset="0"/>
                <a:cs typeface="Arial" panose="020B0604020202020204" pitchFamily="34" charset="0"/>
              </a:rPr>
              <a:t>(a) Reporter ion intensities in a </a:t>
            </a:r>
            <a:r>
              <a:rPr lang="en-US" altLang="en-US" sz="3000" b="0" dirty="0" err="1">
                <a:latin typeface="Arial" panose="020B0604020202020204" pitchFamily="34" charset="0"/>
                <a:cs typeface="Arial" panose="020B0604020202020204" pitchFamily="34" charset="0"/>
              </a:rPr>
              <a:t>SCoPE</a:t>
            </a:r>
            <a:r>
              <a:rPr lang="en-US" altLang="en-US" sz="3000" b="0">
                <a:latin typeface="Arial" panose="020B0604020202020204" pitchFamily="34" charset="0"/>
                <a:cs typeface="Arial" panose="020B0604020202020204" pitchFamily="34" charset="0"/>
              </a:rPr>
              <a:t>-MS </a:t>
            </a:r>
            <a:r>
              <a:rPr lang="en-US" altLang="en-US" sz="3000" b="0" dirty="0">
                <a:latin typeface="Arial" panose="020B0604020202020204" pitchFamily="34" charset="0"/>
                <a:cs typeface="Arial" panose="020B0604020202020204" pitchFamily="34" charset="0"/>
              </a:rPr>
              <a:t>set in which the single cells were omitted while all other steps were carried out. </a:t>
            </a:r>
          </a:p>
          <a:p>
            <a:pPr marL="457200" indent="-457200" eaLnBrk="1" hangingPunct="1">
              <a:spcAft>
                <a:spcPts val="600"/>
              </a:spcAft>
              <a:buFont typeface="Wingdings" panose="05000000000000000000" pitchFamily="2" charset="2"/>
              <a:buChar char="§"/>
            </a:pPr>
            <a:r>
              <a:rPr lang="en-US" altLang="en-US" sz="3000" b="0" dirty="0">
                <a:latin typeface="Arial" panose="020B0604020202020204" pitchFamily="34" charset="0"/>
                <a:cs typeface="Arial" panose="020B0604020202020204" pitchFamily="34" charset="0"/>
              </a:rPr>
              <a:t>(b) Mean RI intensities for a TMT set corresponding to 100, 100, 200, and 300 picograms of cellular proteome.</a:t>
            </a:r>
          </a:p>
        </p:txBody>
      </p:sp>
      <p:sp>
        <p:nvSpPr>
          <p:cNvPr id="678" name="TextBox 185"/>
          <p:cNvSpPr txBox="1">
            <a:spLocks noChangeArrowheads="1"/>
          </p:cNvSpPr>
          <p:nvPr/>
        </p:nvSpPr>
        <p:spPr bwMode="auto">
          <a:xfrm>
            <a:off x="28755073" y="4343400"/>
            <a:ext cx="1452652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2000" b="1">
                <a:solidFill>
                  <a:schemeClr val="tx1"/>
                </a:solidFill>
                <a:latin typeface="Times" panose="02020603050405020304" pitchFamily="18" charset="0"/>
                <a:ea typeface="MS PGothic" panose="020B0600070205080204" pitchFamily="34" charset="-128"/>
              </a:defRPr>
            </a:lvl1pPr>
            <a:lvl2pPr marL="742950" indent="-285750" eaLnBrk="0" hangingPunct="0">
              <a:defRPr sz="2000" b="1">
                <a:solidFill>
                  <a:schemeClr val="tx1"/>
                </a:solidFill>
                <a:latin typeface="Times" panose="02020603050405020304" pitchFamily="18" charset="0"/>
                <a:ea typeface="MS PGothic" panose="020B0600070205080204" pitchFamily="34" charset="-128"/>
              </a:defRPr>
            </a:lvl2pPr>
            <a:lvl3pPr marL="1143000" indent="-228600" eaLnBrk="0" hangingPunct="0">
              <a:defRPr sz="2000" b="1">
                <a:solidFill>
                  <a:schemeClr val="tx1"/>
                </a:solidFill>
                <a:latin typeface="Times" panose="02020603050405020304" pitchFamily="18" charset="0"/>
                <a:ea typeface="MS PGothic" panose="020B0600070205080204" pitchFamily="34" charset="-128"/>
              </a:defRPr>
            </a:lvl3pPr>
            <a:lvl4pPr marL="1600200" indent="-228600" eaLnBrk="0" hangingPunct="0">
              <a:defRPr sz="2000" b="1">
                <a:solidFill>
                  <a:schemeClr val="tx1"/>
                </a:solidFill>
                <a:latin typeface="Times" panose="02020603050405020304" pitchFamily="18" charset="0"/>
                <a:ea typeface="MS PGothic" panose="020B0600070205080204" pitchFamily="34" charset="-128"/>
              </a:defRPr>
            </a:lvl4pPr>
            <a:lvl5pPr marL="2057400" indent="-228600" eaLnBrk="0" hangingPunct="0">
              <a:defRPr sz="2000" b="1">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9pPr>
          </a:lstStyle>
          <a:p>
            <a:pPr eaLnBrk="1" hangingPunct="1">
              <a:spcAft>
                <a:spcPts val="1800"/>
              </a:spcAft>
            </a:pPr>
            <a:r>
              <a:rPr lang="en-US" altLang="en-US" sz="4800" dirty="0">
                <a:solidFill>
                  <a:srgbClr val="005A9B"/>
                </a:solidFill>
                <a:latin typeface="Arial" panose="020B0604020202020204" pitchFamily="34" charset="0"/>
                <a:cs typeface="Arial" panose="020B0604020202020204" pitchFamily="34" charset="0"/>
              </a:rPr>
              <a:t>Comparison between mRNA and protein clusters</a:t>
            </a:r>
            <a:endParaRPr lang="en-US" altLang="en-US" sz="4800" b="0" dirty="0">
              <a:latin typeface="Arial" panose="020B0604020202020204" pitchFamily="34" charset="0"/>
              <a:cs typeface="Arial" panose="020B0604020202020204" pitchFamily="34" charset="0"/>
            </a:endParaRPr>
          </a:p>
        </p:txBody>
      </p:sp>
      <p:sp>
        <p:nvSpPr>
          <p:cNvPr id="12" name="Rectangle 11"/>
          <p:cNvSpPr/>
          <p:nvPr/>
        </p:nvSpPr>
        <p:spPr>
          <a:xfrm>
            <a:off x="28471666" y="31709468"/>
            <a:ext cx="15270004" cy="1477328"/>
          </a:xfrm>
          <a:prstGeom prst="rect">
            <a:avLst/>
          </a:prstGeom>
        </p:spPr>
        <p:txBody>
          <a:bodyPr wrap="square">
            <a:spAutoFit/>
          </a:bodyPr>
          <a:lstStyle/>
          <a:p>
            <a:r>
              <a:rPr lang="en-US" sz="3000" dirty="0" err="1"/>
              <a:t>Budnik</a:t>
            </a:r>
            <a:r>
              <a:rPr lang="en-US" sz="3000" dirty="0"/>
              <a:t> B., Levy E., Slavov N. (2017) Mass-spectrometry of single mammalian cells quantifies proteome heterogeneity during cell differentiation, </a:t>
            </a:r>
            <a:r>
              <a:rPr lang="en-US" sz="3000" dirty="0" err="1"/>
              <a:t>bioRxiv</a:t>
            </a:r>
            <a:r>
              <a:rPr lang="en-US" sz="3000" dirty="0"/>
              <a:t>, DOI: </a:t>
            </a:r>
            <a:r>
              <a:rPr lang="en-US" sz="3000" dirty="0">
                <a:hlinkClick r:id="rId16"/>
              </a:rPr>
              <a:t>10.1101/102681</a:t>
            </a:r>
            <a:endParaRPr lang="en-US" sz="3000" dirty="0"/>
          </a:p>
          <a:p>
            <a:endParaRPr lang="en-US" sz="3000" b="0" dirty="0"/>
          </a:p>
        </p:txBody>
      </p:sp>
      <p:grpSp>
        <p:nvGrpSpPr>
          <p:cNvPr id="682" name="Group 681"/>
          <p:cNvGrpSpPr/>
          <p:nvPr/>
        </p:nvGrpSpPr>
        <p:grpSpPr>
          <a:xfrm>
            <a:off x="1981200" y="20473912"/>
            <a:ext cx="8983478" cy="3529088"/>
            <a:chOff x="1131887" y="1964604"/>
            <a:chExt cx="8658225" cy="2924175"/>
          </a:xfrm>
        </p:grpSpPr>
        <p:pic>
          <p:nvPicPr>
            <p:cNvPr id="683" name="Picture 682"/>
            <p:cNvPicPr>
              <a:picLocks noChangeAspect="1"/>
            </p:cNvPicPr>
            <p:nvPr/>
          </p:nvPicPr>
          <p:blipFill>
            <a:blip r:embed="rId17"/>
            <a:stretch>
              <a:fillRect/>
            </a:stretch>
          </p:blipFill>
          <p:spPr>
            <a:xfrm>
              <a:off x="1131887" y="1964604"/>
              <a:ext cx="8658225" cy="2924175"/>
            </a:xfrm>
            <a:prstGeom prst="rect">
              <a:avLst/>
            </a:prstGeom>
          </p:spPr>
        </p:pic>
        <p:cxnSp>
          <p:nvCxnSpPr>
            <p:cNvPr id="684" name="Straight Connector 683"/>
            <p:cNvCxnSpPr/>
            <p:nvPr/>
          </p:nvCxnSpPr>
          <p:spPr>
            <a:xfrm flipV="1">
              <a:off x="1821873" y="3426691"/>
              <a:ext cx="4083050" cy="9351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5" name="Straight Connector 684"/>
            <p:cNvCxnSpPr/>
            <p:nvPr/>
          </p:nvCxnSpPr>
          <p:spPr>
            <a:xfrm flipV="1">
              <a:off x="1707573" y="3283527"/>
              <a:ext cx="471632" cy="10783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86" name="Picture 685"/>
            <p:cNvPicPr>
              <a:picLocks noChangeAspect="1"/>
            </p:cNvPicPr>
            <p:nvPr/>
          </p:nvPicPr>
          <p:blipFill>
            <a:blip r:embed="rId18"/>
            <a:stretch>
              <a:fillRect/>
            </a:stretch>
          </p:blipFill>
          <p:spPr>
            <a:xfrm>
              <a:off x="2264063" y="2110794"/>
              <a:ext cx="3755159" cy="1389595"/>
            </a:xfrm>
            <a:prstGeom prst="rect">
              <a:avLst/>
            </a:prstGeom>
          </p:spPr>
        </p:pic>
      </p:grpSp>
      <p:grpSp>
        <p:nvGrpSpPr>
          <p:cNvPr id="14" name="Group 13"/>
          <p:cNvGrpSpPr/>
          <p:nvPr/>
        </p:nvGrpSpPr>
        <p:grpSpPr>
          <a:xfrm>
            <a:off x="12919100" y="5450859"/>
            <a:ext cx="7883502" cy="6664941"/>
            <a:chOff x="13202852" y="6396206"/>
            <a:chExt cx="7455458" cy="5856221"/>
          </a:xfrm>
        </p:grpSpPr>
        <p:pic>
          <p:nvPicPr>
            <p:cNvPr id="9" name="Picture 8"/>
            <p:cNvPicPr>
              <a:picLocks noChangeAspect="1"/>
            </p:cNvPicPr>
            <p:nvPr/>
          </p:nvPicPr>
          <p:blipFill>
            <a:blip r:embed="rId19"/>
            <a:stretch>
              <a:fillRect/>
            </a:stretch>
          </p:blipFill>
          <p:spPr>
            <a:xfrm>
              <a:off x="13571709" y="6396206"/>
              <a:ext cx="7086601" cy="5856221"/>
            </a:xfrm>
            <a:prstGeom prst="rect">
              <a:avLst/>
            </a:prstGeom>
          </p:spPr>
        </p:pic>
        <p:sp>
          <p:nvSpPr>
            <p:cNvPr id="13" name="Rectangle 12"/>
            <p:cNvSpPr/>
            <p:nvPr/>
          </p:nvSpPr>
          <p:spPr bwMode="auto">
            <a:xfrm>
              <a:off x="13202852" y="6426708"/>
              <a:ext cx="780953" cy="74107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60413"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pitchFamily="18" charset="0"/>
              </a:endParaRPr>
            </a:p>
          </p:txBody>
        </p:sp>
      </p:grpSp>
      <p:pic>
        <p:nvPicPr>
          <p:cNvPr id="8" name="Picture 7"/>
          <p:cNvPicPr>
            <a:picLocks noChangeAspect="1"/>
          </p:cNvPicPr>
          <p:nvPr/>
        </p:nvPicPr>
        <p:blipFill rotWithShape="1">
          <a:blip r:embed="rId20"/>
          <a:srcRect l="1198"/>
          <a:stretch/>
        </p:blipFill>
        <p:spPr>
          <a:xfrm>
            <a:off x="20703490" y="5551559"/>
            <a:ext cx="7261910" cy="6286520"/>
          </a:xfrm>
          <a:prstGeom prst="rect">
            <a:avLst/>
          </a:prstGeom>
        </p:spPr>
      </p:pic>
      <p:sp>
        <p:nvSpPr>
          <p:cNvPr id="689" name="TextBox 185"/>
          <p:cNvSpPr txBox="1">
            <a:spLocks noChangeArrowheads="1"/>
          </p:cNvSpPr>
          <p:nvPr/>
        </p:nvSpPr>
        <p:spPr bwMode="auto">
          <a:xfrm>
            <a:off x="36576000" y="11277600"/>
            <a:ext cx="6380794" cy="4693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2000" b="1">
                <a:solidFill>
                  <a:schemeClr val="tx1"/>
                </a:solidFill>
                <a:latin typeface="Times" panose="02020603050405020304" pitchFamily="18" charset="0"/>
                <a:ea typeface="MS PGothic" panose="020B0600070205080204" pitchFamily="34" charset="-128"/>
              </a:defRPr>
            </a:lvl1pPr>
            <a:lvl2pPr marL="742950" indent="-285750" eaLnBrk="0" hangingPunct="0">
              <a:defRPr sz="2000" b="1">
                <a:solidFill>
                  <a:schemeClr val="tx1"/>
                </a:solidFill>
                <a:latin typeface="Times" panose="02020603050405020304" pitchFamily="18" charset="0"/>
                <a:ea typeface="MS PGothic" panose="020B0600070205080204" pitchFamily="34" charset="-128"/>
              </a:defRPr>
            </a:lvl2pPr>
            <a:lvl3pPr marL="1143000" indent="-228600" eaLnBrk="0" hangingPunct="0">
              <a:defRPr sz="2000" b="1">
                <a:solidFill>
                  <a:schemeClr val="tx1"/>
                </a:solidFill>
                <a:latin typeface="Times" panose="02020603050405020304" pitchFamily="18" charset="0"/>
                <a:ea typeface="MS PGothic" panose="020B0600070205080204" pitchFamily="34" charset="-128"/>
              </a:defRPr>
            </a:lvl3pPr>
            <a:lvl4pPr marL="1600200" indent="-228600" eaLnBrk="0" hangingPunct="0">
              <a:defRPr sz="2000" b="1">
                <a:solidFill>
                  <a:schemeClr val="tx1"/>
                </a:solidFill>
                <a:latin typeface="Times" panose="02020603050405020304" pitchFamily="18" charset="0"/>
                <a:ea typeface="MS PGothic" panose="020B0600070205080204" pitchFamily="34" charset="-128"/>
              </a:defRPr>
            </a:lvl4pPr>
            <a:lvl5pPr marL="2057400" indent="-228600" eaLnBrk="0" hangingPunct="0">
              <a:defRPr sz="2000" b="1">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Times" panose="02020603050405020304" pitchFamily="18" charset="0"/>
                <a:ea typeface="MS PGothic" panose="020B0600070205080204" pitchFamily="34" charset="-128"/>
              </a:defRPr>
            </a:lvl9pPr>
          </a:lstStyle>
          <a:p>
            <a:pPr marL="457200" indent="-457200" eaLnBrk="1" hangingPunct="1">
              <a:spcAft>
                <a:spcPts val="600"/>
              </a:spcAft>
              <a:buFont typeface="Wingdings" panose="05000000000000000000" pitchFamily="2" charset="2"/>
              <a:buChar char="§"/>
            </a:pPr>
            <a:r>
              <a:rPr lang="en-US" altLang="en-US" sz="3000" b="0" dirty="0" err="1">
                <a:latin typeface="Arial" panose="020B0604020202020204" pitchFamily="34" charset="0"/>
                <a:cs typeface="Arial" panose="020B0604020202020204" pitchFamily="34" charset="0"/>
              </a:rPr>
              <a:t>Clustergrams</a:t>
            </a:r>
            <a:r>
              <a:rPr lang="en-US" altLang="en-US" sz="3000" b="0" dirty="0">
                <a:latin typeface="Arial" panose="020B0604020202020204" pitchFamily="34" charset="0"/>
                <a:cs typeface="Arial" panose="020B0604020202020204" pitchFamily="34" charset="0"/>
              </a:rPr>
              <a:t> of pairwise correlations between mRNAs with 2.5 or more reads per cell as quantified by </a:t>
            </a:r>
            <a:r>
              <a:rPr lang="en-US" altLang="en-US" sz="3000" b="0" dirty="0" err="1">
                <a:latin typeface="Arial" panose="020B0604020202020204" pitchFamily="34" charset="0"/>
                <a:cs typeface="Arial" panose="020B0604020202020204" pitchFamily="34" charset="0"/>
              </a:rPr>
              <a:t>inDrop</a:t>
            </a:r>
            <a:r>
              <a:rPr lang="en-US" altLang="en-US" sz="3000" b="0" dirty="0">
                <a:latin typeface="Arial" panose="020B0604020202020204" pitchFamily="34" charset="0"/>
                <a:cs typeface="Arial" panose="020B0604020202020204" pitchFamily="34" charset="0"/>
              </a:rPr>
              <a:t> and proteins quantified by </a:t>
            </a:r>
            <a:r>
              <a:rPr lang="en-US" altLang="en-US" sz="3000" b="0" dirty="0" err="1">
                <a:latin typeface="Arial" panose="020B0604020202020204" pitchFamily="34" charset="0"/>
                <a:cs typeface="Arial" panose="020B0604020202020204" pitchFamily="34" charset="0"/>
              </a:rPr>
              <a:t>SCoPE</a:t>
            </a:r>
            <a:r>
              <a:rPr lang="en-US" altLang="en-US" sz="3000" b="0" dirty="0">
                <a:latin typeface="Arial" panose="020B0604020202020204" pitchFamily="34" charset="0"/>
                <a:cs typeface="Arial" panose="020B0604020202020204" pitchFamily="34" charset="0"/>
              </a:rPr>
              <a:t>-MS in 12 or more single mouse embryoid body cells. </a:t>
            </a:r>
          </a:p>
          <a:p>
            <a:pPr marL="457200" indent="-457200" eaLnBrk="1" hangingPunct="1">
              <a:spcAft>
                <a:spcPts val="600"/>
              </a:spcAft>
              <a:buFont typeface="Wingdings" panose="05000000000000000000" pitchFamily="2" charset="2"/>
              <a:buChar char="§"/>
            </a:pPr>
            <a:r>
              <a:rPr lang="en-US" altLang="en-US" sz="3000" b="0" dirty="0">
                <a:latin typeface="Arial" panose="020B0604020202020204" pitchFamily="34" charset="0"/>
                <a:cs typeface="Arial" panose="020B0604020202020204" pitchFamily="34" charset="0"/>
              </a:rPr>
              <a:t>Overlap between mRNA and protein clusters indicates similar clustering patterns.  </a:t>
            </a:r>
          </a:p>
        </p:txBody>
      </p:sp>
    </p:spTree>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760413" rtl="0" eaLnBrk="0" fontAlgn="base" latinLnBrk="0" hangingPunct="0">
          <a:lnSpc>
            <a:spcPct val="100000"/>
          </a:lnSpc>
          <a:spcBef>
            <a:spcPct val="0"/>
          </a:spcBef>
          <a:spcAft>
            <a:spcPct val="0"/>
          </a:spcAft>
          <a:buClrTx/>
          <a:buSzTx/>
          <a:buFontTx/>
          <a:buNone/>
          <a:tabLst/>
          <a:defRPr kumimoji="0" lang="en-AU" sz="2000" b="1"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760413" rtl="0" eaLnBrk="0" fontAlgn="base" latinLnBrk="0" hangingPunct="0">
          <a:lnSpc>
            <a:spcPct val="100000"/>
          </a:lnSpc>
          <a:spcBef>
            <a:spcPct val="0"/>
          </a:spcBef>
          <a:spcAft>
            <a:spcPct val="0"/>
          </a:spcAft>
          <a:buClrTx/>
          <a:buSzTx/>
          <a:buFontTx/>
          <a:buNone/>
          <a:tabLst/>
          <a:defRPr kumimoji="0" lang="en-AU" sz="2000" b="1"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18227</TotalTime>
  <Words>436</Words>
  <Application>Microsoft Office PowerPoint</Application>
  <PresentationFormat>Custom</PresentationFormat>
  <Paragraphs>27</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ＭＳ Ｐゴシック</vt:lpstr>
      <vt:lpstr>ＭＳ Ｐゴシック</vt:lpstr>
      <vt:lpstr>Arial</vt:lpstr>
      <vt:lpstr>Times</vt:lpstr>
      <vt:lpstr>Wingdings</vt:lpstr>
      <vt:lpstr>Blank</vt:lpstr>
      <vt:lpstr>PowerPoint Presentation</vt:lpstr>
    </vt:vector>
  </TitlesOfParts>
  <Company>Broad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Qiandong Zeng</dc:creator>
  <cp:lastModifiedBy>nslavov</cp:lastModifiedBy>
  <cp:revision>1832</cp:revision>
  <cp:lastPrinted>2015-11-16T16:18:02Z</cp:lastPrinted>
  <dcterms:created xsi:type="dcterms:W3CDTF">2011-11-02T21:13:14Z</dcterms:created>
  <dcterms:modified xsi:type="dcterms:W3CDTF">2017-06-17T01:22:02Z</dcterms:modified>
</cp:coreProperties>
</file>